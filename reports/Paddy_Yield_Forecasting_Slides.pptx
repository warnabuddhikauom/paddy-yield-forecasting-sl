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bbe2e9-e3c7-f97e-45cd-9e0b2359c834}">
          <p14:sldIdLst>
            <p14:sldId id="256"/>
            <p14:sldId id="257"/>
          </p14:sldIdLst>
        </p14:section>
        <p14:section name="Data" id="{12cac58e-b3c5-2e0d-c8a2-9cd9ec36f539}">
          <p14:sldIdLst>
            <p14:sldId id="258"/>
            <p14:sldId id="259"/>
          </p14:sldIdLst>
        </p14:section>
        <p14:section name="Modelling" id="{8b376fa2-3eb7-5d32-265d-e30e55566aef}">
          <p14:sldIdLst>
            <p14:sldId id="260"/>
            <p14:sldId id="261"/>
            <p14:sldId id="262"/>
          </p14:sldIdLst>
        </p14:section>
        <p14:section name="Explainability" id="{35136c19-be54-b93f-7c4e-e500252e0d4d}">
          <p14:sldIdLst>
            <p14:sldId id="263"/>
            <p14:sldId id="264"/>
          </p14:sldIdLst>
        </p14:section>
        <p14:section name="Deployment" id="{9385b0f4-f4bc-5f23-6db0-96499ee9ddf3}">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4D2B"/>
                </a:solidFill>
                <a:latin typeface="+mn-lt"/>
              </a:defRPr>
            </a:pPr>
            <a:r>
              <a:rPr sz="1400" b="0" i="0" u="none" strike="noStrike">
                <a:solidFill>
                  <a:srgbClr val="1E4D2B"/>
                </a:solidFill>
                <a:latin typeface="+mn-lt"/>
              </a:rPr>
              <a:t>Test RMSE 2016–2023 (kg/ha, lower is better)</a:t>
            </a:r>
          </a:p>
        </c:rich>
      </c:tx>
      <c:layout/>
      <c:overlay val="0"/>
    </c:title>
    <c:autoTitleDeleted val="0"/>
    <c:plotArea>
      <c:layout/>
      <c:barChart>
        <c:barDir val="bar"/>
        <c:grouping val="clustered"/>
        <c:varyColors val="0"/>
        <c:ser>
          <c:idx val="0"/>
          <c:order val="0"/>
          <c:tx>
            <c:strRef>
              <c:f>Sheet1!$B$1</c:f>
              <c:strCache>
                <c:ptCount val="1"/>
                <c:pt idx="0">
                  <c:v>Test RMSE (kg/ha)</c:v>
                </c:pt>
              </c:strCache>
            </c:strRef>
          </c:tx>
          <c:spPr>
            <a:solidFill>
              <a:srgbClr val="6B7B6B"/>
            </a:solidFill>
            <a:effectLst/>
          </c:spPr>
          <c:invertIfNegative val="0"/>
          <c:dLbls>
            <c:numFmt formatCode="#,##0" sourceLinked="0"/>
            <c:txPr>
              <a:bodyPr/>
              <a:lstStyle/>
              <a:p>
                <a:pPr>
                  <a:defRPr b="0" i="0" strike="noStrike" sz="1200" u="none">
                    <a:solidFill>
                      <a:srgbClr val="1F2A1F"/>
                    </a:solidFill>
                    <a:latin typeface="+mn-lt"/>
                  </a:defRPr>
                </a:pPr>
              </a:p>
            </c:txPr>
            <c:showLegendKey val="0"/>
            <c:showVal val="1"/>
            <c:showCatName val="0"/>
            <c:showSerName val="0"/>
            <c:showPercent val="0"/>
            <c:showBubbleSize val="0"/>
            <c:showLeaderLines val="0"/>
          </c:dLbls>
          <c:dPt>
            <c:idx val="0"/>
            <c:invertIfNegative val="0"/>
            <c:bubble3D val="0"/>
            <c:spPr>
              <a:solidFill>
                <a:srgbClr val="6B7B6B"/>
              </a:solidFill>
              <a:effectLst/>
            </c:spPr>
          </c:dPt>
          <c:dPt>
            <c:idx val="1"/>
            <c:invertIfNegative val="0"/>
            <c:bubble3D val="0"/>
            <c:spPr>
              <a:solidFill>
                <a:srgbClr val="6B7B6B"/>
              </a:solidFill>
              <a:effectLst/>
            </c:spPr>
          </c:dPt>
          <c:dPt>
            <c:idx val="2"/>
            <c:invertIfNegative val="0"/>
            <c:bubble3D val="0"/>
            <c:spPr>
              <a:solidFill>
                <a:srgbClr val="6B7B6B"/>
              </a:solidFill>
              <a:effectLst/>
            </c:spPr>
          </c:dPt>
          <c:dPt>
            <c:idx val="3"/>
            <c:invertIfNegative val="0"/>
            <c:bubble3D val="0"/>
            <c:spPr>
              <a:solidFill>
                <a:srgbClr val="2E7D4F"/>
              </a:solidFill>
              <a:effectLst/>
            </c:spPr>
          </c:dPt>
          <c:dPt>
            <c:idx val="4"/>
            <c:invertIfNegative val="0"/>
            <c:bubble3D val="0"/>
            <c:spPr>
              <a:solidFill>
                <a:srgbClr val="D4A017"/>
              </a:solidFill>
              <a:effectLst/>
            </c:spPr>
          </c:dPt>
          <c:dPt>
            <c:idx val="5"/>
            <c:invertIfNegative val="0"/>
            <c:bubble3D val="0"/>
            <c:spPr>
              <a:solidFill>
                <a:srgbClr val="2E7D4F"/>
              </a:solidFill>
              <a:effectLst/>
            </c:spPr>
          </c:dPt>
          <c:dPt>
            <c:idx val="6"/>
            <c:invertIfNegative val="0"/>
            <c:bubble3D val="0"/>
            <c:spPr>
              <a:solidFill>
                <a:srgbClr val="2E7D4F"/>
              </a:solidFill>
              <a:effectLst/>
            </c:spPr>
          </c:dPt>
          <c:dPt>
            <c:idx val="7"/>
            <c:invertIfNegative val="0"/>
            <c:bubble3D val="0"/>
            <c:spPr>
              <a:solidFill>
                <a:srgbClr val="2E7D4F"/>
              </a:solidFill>
              <a:effectLst/>
            </c:spPr>
          </c:dPt>
          <c:cat>
            <c:multiLvlStrRef>
              <c:f>Sheet1!$A$2:$A$9</c:f>
              <c:multiLvlStrCache>
                <c:ptCount val="8"/>
                <c:lvl>
                  <c:pt idx="0">
                    <c:v>Persistence</c:v>
                  </c:pt>
                  <c:pt idx="1">
                    <c:v>Moving avg</c:v>
                  </c:pt>
                  <c:pt idx="2">
                    <c:v>Linear reg.</c:v>
                  </c:pt>
                  <c:pt idx="3">
                    <c:v>XGBoost</c:v>
                  </c:pt>
                  <c:pt idx="4">
                    <c:v>LightGBM</c:v>
                  </c:pt>
                  <c:pt idx="5">
                    <c:v>Random Forest</c:v>
                  </c:pt>
                  <c:pt idx="6">
                    <c:v>CatBoost</c:v>
                  </c:pt>
                  <c:pt idx="7">
                    <c:v>Stacking</c:v>
                  </c:pt>
                </c:lvl>
              </c:multiLvlStrCache>
            </c:multiLvlStrRef>
          </c:cat>
          <c:val>
            <c:numRef>
              <c:f>Sheet1!$B$2:$B$9</c:f>
              <c:numCache>
                <c:formatCode>General</c:formatCode>
                <c:ptCount val="8"/>
                <c:pt idx="0">
                  <c:v>742</c:v>
                </c:pt>
                <c:pt idx="1">
                  <c:v>685</c:v>
                </c:pt>
                <c:pt idx="2">
                  <c:v>639</c:v>
                </c:pt>
                <c:pt idx="3">
                  <c:v>633</c:v>
                </c:pt>
                <c:pt idx="4">
                  <c:v>626</c:v>
                </c:pt>
                <c:pt idx="5">
                  <c:v>622</c:v>
                </c:pt>
                <c:pt idx="6">
                  <c:v>608</c:v>
                </c:pt>
                <c:pt idx="7">
                  <c:v>608</c:v>
                </c:pt>
              </c:numCache>
            </c:numRef>
          </c:val>
        </c:ser>
        <c:dLbls>
          <c:numFmt formatCode="#,##0" sourceLinked="0"/>
          <c:txPr>
            <a:bodyPr/>
            <a:lstStyle/>
            <a:p>
              <a:pPr>
                <a:defRPr b="0" i="0" strike="noStrike" sz="1200" u="none">
                  <a:solidFill>
                    <a:srgbClr val="1F2A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1F"/>
                </a:solidFill>
                <a:latin typeface="+mn-lt"/>
              </a:defRPr>
            </a:pPr>
            <a:endParaRPr lang="en-US"/>
          </a:p>
        </c:txPr>
        <c:crossAx val="2094734552"/>
        <c:crosses val="autoZero"/>
        <c:auto val="1"/>
        <c:lblAlgn val="ctr"/>
        <c:noMultiLvlLbl val="1"/>
      </c:catAx>
      <c:valAx>
        <c:axId val="2094734552"/>
        <c:scaling>
          <c:orientation val="minMax"/>
          <c:max val="8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Buddhika K H W. My project forecasts the paddy yield of every Sri Lankan district for the coming Maha or Yala season, at the moment the season is sown, using Department of Census and Statistics data from 1979 to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Rice is our staple. Fertilizer, purchasing and imports are planned before the harvest. The 2022 fertilizer ban showed how costly a surprise can be. So the goal is to predict each district's yield at sowing time. That makes it a regression problem on local tabular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DCS district paddy statistics, 1979 to 2023. Before modelling I found four problems: 100 duplicated rows, four regions that overlap real districts, a unit error where yields labelled tonnes are really kilograms per hectare, and text-formatted numbers. Fixing these needed domain knowledge, not just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shows a strong upward trend and the 2022 collapse. Irrigation matters: rain-fed share is strongly negative. I only use features known at sowing: district, season, year, sown area by irrigation type and past yields. Harvest and production columns are excluded because they would leak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by time, not randomly, so the model never learns from the future. Hyperparameters were not left at defaults. For example, LightGBM uses few leaves and large minimum leaf sizes because there are under two thousand training rows. Tuning used forward-chaining time-series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bars are existing approaches, green are the ensembles. LightGBM was selected on cross-validation error: 17 percent lower than linear regression. On the unseen 2016 to 2023 seasons it is 16 percent better than persistence, and 60 percent of forecasts are within plus or minus 10 percent. Stacking scored best on the test set, but I select on validation, not 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honest limitations. Tree models cannot extrapolate above the yields they have seen, so the record years are under-predicted; that is why the final model is retrained on data up to 2023. And the 2022 fertilizer ban, the red points, could not be predicted by any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shows the model's reasoning. Recent yield history is the main driver. A higher rain-fed share lowers the forecast, while major irrigation raises it. Year captures the technology trend. Interestingly, the district name adds almost nothing, because its effect is already explained by history and irrigation. This matches agronomy, so we can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inference I held out Polonnaruwa Yala 2023. The pickled model predicts 4,225 kg/ha against an actual 4,918. The SHAP waterfall explains why: Year 2023 pulls the forecast down because the model learned the 2022 collapse, but yields recovered. LIME agrees on the main drivers but misses this, because it uses coarse bins.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end was generated with GenAI prompts, which are in the repository, then tested against the notebook. It loads the pickle file, pre-fills district history, and shows the forecast with a SHAP explanation. For the bonus, there is a Dockerfile and a CI pipeline that tests the model and builds the container. [Show a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careful cleaning, leakage-free features and tuned ensembles give forecasts 16 to 22 percent better than the persistence baseline, with explanations that make sense. Next steps are weather and fertilizer data, and drift monitoring.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840480"/>
            <a:ext cx="10698480" cy="137160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wheat icon" descr="paddy icon">    </p:cNvPr>
          <p:cNvPicPr>
            <a:picLocks noChangeAspect="1"/>
          </p:cNvPicPr>
          <p:nvPr/>
        </p:nvPicPr>
        <p:blipFill>
          <a:blip r:embed="rId1"/>
          <a:stretch>
            <a:fillRect/>
          </a:stretch>
        </p:blipFill>
        <p:spPr>
          <a:xfrm>
            <a:off x="731520" y="914400"/>
            <a:ext cx="914400" cy="914400"/>
          </a:xfrm>
          <a:prstGeom prst="rect">
            <a:avLst/>
          </a:prstGeom>
        </p:spPr>
      </p:pic>
      <p:sp>
        <p:nvSpPr>
          <p:cNvPr id="3" name="Text 0"/>
          <p:cNvSpPr/>
          <p:nvPr>
            <p:ph idx="100" type="title" hasCustomPrompt="1"/>
          </p:nvPr>
        </p:nvSpPr>
        <p:spPr>
          <a:xfrm>
            <a:off x="731520" y="2011680"/>
            <a:ext cx="10698480" cy="1645920"/>
          </a:xfrm>
          <a:prstGeom prst="rect">
            <a:avLst/>
          </a:prstGeom>
          <a:noFill/>
          <a:ln/>
        </p:spPr>
        <p:txBody>
          <a:bodyPr wrap="square" rtlCol="0" anchor="b"/>
          <a:lstStyle/>
          <a:p>
            <a:pPr algn="l" indent="0" marL="0">
              <a:buNone/>
            </a:pPr>
            <a:r>
              <a:rPr lang="en-US" sz="4400" b="1" dirty="0">
                <a:solidFill>
                  <a:schemeClr val="bg1"/>
                </a:solidFill>
              </a:rPr>
              <a:t>Forecasting District-Level Paddy Yield in Sri Lanka at Sowing Time</a:t>
            </a:r>
            <a:endParaRPr lang="en-US" sz="4400" dirty="0"/>
          </a:p>
        </p:txBody>
      </p:sp>
      <p:sp>
        <p:nvSpPr>
          <p:cNvPr id="4" name="Text 0"/>
          <p:cNvSpPr/>
          <p:nvPr>
            <p:ph idx="101" type="body" hasCustomPrompt="1"/>
          </p:nvPr>
        </p:nvSpPr>
        <p:spPr>
          <a:xfrm>
            <a:off x="731520" y="3840480"/>
            <a:ext cx="10698480" cy="1371600"/>
          </a:xfrm>
          <a:prstGeom prst="rect">
            <a:avLst/>
          </a:prstGeom>
          <a:noFill/>
          <a:ln/>
        </p:spPr>
        <p:txBody>
          <a:bodyPr wrap="square" rtlCol="0" anchor="t"/>
          <a:lstStyle/>
          <a:p>
            <a:pPr algn="l" indent="0" marL="0">
              <a:buNone/>
            </a:pPr>
            <a:r>
              <a:rPr lang="en-US" sz="2000" dirty="0">
                <a:solidFill>
                  <a:schemeClr val="accent6"/>
                </a:solidFill>
              </a:rPr>
              <a:t>Applied Machine Learning – Final Assignment</a:t>
            </a:r>
            <a:endParaRPr lang="en-US" sz="2000" dirty="0"/>
          </a:p>
          <a:p>
            <a:pPr algn="l" indent="0" marL="0">
              <a:buNone/>
            </a:pPr>
            <a:r>
              <a:rPr lang="en-US" sz="2000" dirty="0">
                <a:solidFill>
                  <a:schemeClr val="accent2"/>
                </a:solidFill>
              </a:rPr>
              <a:t>Buddhika K H W  ·  269086V</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Planners must decide before the harvest is known</a:t>
            </a:r>
            <a:endParaRPr lang="en-US" sz="3200" dirty="0"/>
          </a:p>
        </p:txBody>
      </p:sp>
      <p:sp>
        <p:nvSpPr>
          <p:cNvPr id="3" name="card 1"/>
          <p:cNvSpPr/>
          <p:nvPr/>
        </p:nvSpPr>
        <p:spPr>
          <a:xfrm>
            <a:off x="548640" y="1463040"/>
            <a:ext cx="3474720" cy="2926080"/>
          </a:xfrm>
          <a:prstGeom prst="roundRect">
            <a:avLst>
              <a:gd name="adj" fmla="val 3750"/>
            </a:avLst>
          </a:prstGeom>
          <a:solidFill>
            <a:schemeClr val="bg2"/>
          </a:solidFill>
          <a:ln w="12700">
            <a:solidFill>
              <a:schemeClr val="bg2"/>
            </a:solidFill>
            <a:prstDash val="solid"/>
          </a:ln>
        </p:spPr>
      </p:sp>
      <p:sp>
        <p:nvSpPr>
          <p:cNvPr id="4" name="card 1 circle"/>
          <p:cNvSpPr/>
          <p:nvPr/>
        </p:nvSpPr>
        <p:spPr>
          <a:xfrm>
            <a:off x="868680" y="1737360"/>
            <a:ext cx="822960" cy="822960"/>
          </a:xfrm>
          <a:prstGeom prst="ellipse">
            <a:avLst/>
          </a:prstGeom>
          <a:solidFill>
            <a:schemeClr val="accent1"/>
          </a:solidFill>
          <a:ln w="12700">
            <a:solidFill>
              <a:schemeClr val="accent1"/>
            </a:solidFill>
            <a:prstDash val="solid"/>
          </a:ln>
        </p:spPr>
      </p:sp>
      <p:pic>
        <p:nvPicPr>
          <p:cNvPr id="5" name="card 1 icon" descr="card 1">    </p:cNvPr>
          <p:cNvPicPr>
            <a:picLocks noChangeAspect="1"/>
          </p:cNvPicPr>
          <p:nvPr/>
        </p:nvPicPr>
        <p:blipFill>
          <a:blip r:embed="rId1"/>
          <a:stretch>
            <a:fillRect/>
          </a:stretch>
        </p:blipFill>
        <p:spPr>
          <a:xfrm>
            <a:off x="1066190" y="1934870"/>
            <a:ext cx="427939" cy="427939"/>
          </a:xfrm>
          <a:prstGeom prst="rect">
            <a:avLst/>
          </a:prstGeom>
        </p:spPr>
      </p:pic>
      <p:sp>
        <p:nvSpPr>
          <p:cNvPr id="6" name="card 1 heading"/>
          <p:cNvSpPr txBox="1"/>
          <p:nvPr/>
        </p:nvSpPr>
        <p:spPr>
          <a:xfrm>
            <a:off x="822960" y="2697480"/>
            <a:ext cx="3017520" cy="457200"/>
          </a:xfrm>
          <a:prstGeom prst="rect">
            <a:avLst/>
          </a:prstGeom>
          <a:noFill/>
          <a:ln/>
        </p:spPr>
        <p:txBody>
          <a:bodyPr wrap="square" lIns="0" tIns="0" rIns="0" bIns="0" rtlCol="0" anchor="t"/>
          <a:lstStyle/>
          <a:p>
            <a:pPr indent="0" marL="0">
              <a:buNone/>
            </a:pPr>
            <a:r>
              <a:rPr lang="en-US" sz="1900" b="1" dirty="0">
                <a:solidFill>
                  <a:schemeClr val="tx2"/>
                </a:solidFill>
              </a:rPr>
              <a:t>Two seasons, 25 districts</a:t>
            </a:r>
            <a:endParaRPr lang="en-US" sz="1900" dirty="0"/>
          </a:p>
        </p:txBody>
      </p:sp>
      <p:sp>
        <p:nvSpPr>
          <p:cNvPr id="7" name="card 1 body"/>
          <p:cNvSpPr txBox="1"/>
          <p:nvPr/>
        </p:nvSpPr>
        <p:spPr>
          <a:xfrm>
            <a:off x="822960" y="3200400"/>
            <a:ext cx="3017520" cy="1463040"/>
          </a:xfrm>
          <a:prstGeom prst="rect">
            <a:avLst/>
          </a:prstGeom>
          <a:noFill/>
          <a:ln/>
        </p:spPr>
        <p:txBody>
          <a:bodyPr wrap="square" lIns="0" tIns="0" rIns="0" bIns="0" rtlCol="0" anchor="t"/>
          <a:lstStyle/>
          <a:p>
            <a:pPr indent="0" marL="0">
              <a:buNone/>
            </a:pPr>
            <a:r>
              <a:rPr lang="en-US" sz="1500" dirty="0">
                <a:solidFill>
                  <a:schemeClr val="tx1"/>
                </a:solidFill>
              </a:rPr>
              <a:t>Maha (Oct–Mar) and Yala (Apr–Sep) differ in rainfall and tank water, and dry-zone irrigated districts out-yield wet-zone rain-fed ones.</a:t>
            </a:r>
            <a:endParaRPr lang="en-US" sz="1500" dirty="0"/>
          </a:p>
        </p:txBody>
      </p:sp>
      <p:sp>
        <p:nvSpPr>
          <p:cNvPr id="8" name="card 2"/>
          <p:cNvSpPr/>
          <p:nvPr/>
        </p:nvSpPr>
        <p:spPr>
          <a:xfrm>
            <a:off x="4297680" y="1463040"/>
            <a:ext cx="3474720" cy="2926080"/>
          </a:xfrm>
          <a:prstGeom prst="roundRect">
            <a:avLst>
              <a:gd name="adj" fmla="val 3750"/>
            </a:avLst>
          </a:prstGeom>
          <a:solidFill>
            <a:schemeClr val="bg2"/>
          </a:solidFill>
          <a:ln w="12700">
            <a:solidFill>
              <a:schemeClr val="bg2"/>
            </a:solidFill>
            <a:prstDash val="solid"/>
          </a:ln>
        </p:spPr>
      </p:sp>
      <p:sp>
        <p:nvSpPr>
          <p:cNvPr id="9" name="card 2 circle"/>
          <p:cNvSpPr/>
          <p:nvPr/>
        </p:nvSpPr>
        <p:spPr>
          <a:xfrm>
            <a:off x="4617720" y="1737360"/>
            <a:ext cx="822960" cy="822960"/>
          </a:xfrm>
          <a:prstGeom prst="ellipse">
            <a:avLst/>
          </a:prstGeom>
          <a:solidFill>
            <a:schemeClr val="accent1"/>
          </a:solidFill>
          <a:ln w="12700">
            <a:solidFill>
              <a:schemeClr val="accent1"/>
            </a:solidFill>
            <a:prstDash val="solid"/>
          </a:ln>
        </p:spPr>
      </p:sp>
      <p:pic>
        <p:nvPicPr>
          <p:cNvPr id="10" name="card 2 icon" descr="card 2">    </p:cNvPr>
          <p:cNvPicPr>
            <a:picLocks noChangeAspect="1"/>
          </p:cNvPicPr>
          <p:nvPr/>
        </p:nvPicPr>
        <p:blipFill>
          <a:blip r:embed="rId2"/>
          <a:stretch>
            <a:fillRect/>
          </a:stretch>
        </p:blipFill>
        <p:spPr>
          <a:xfrm>
            <a:off x="4815230" y="1934870"/>
            <a:ext cx="427939" cy="427939"/>
          </a:xfrm>
          <a:prstGeom prst="rect">
            <a:avLst/>
          </a:prstGeom>
        </p:spPr>
      </p:pic>
      <p:sp>
        <p:nvSpPr>
          <p:cNvPr id="11" name="card 2 heading"/>
          <p:cNvSpPr txBox="1"/>
          <p:nvPr/>
        </p:nvSpPr>
        <p:spPr>
          <a:xfrm>
            <a:off x="4572000" y="2697480"/>
            <a:ext cx="3017520" cy="457200"/>
          </a:xfrm>
          <a:prstGeom prst="rect">
            <a:avLst/>
          </a:prstGeom>
          <a:noFill/>
          <a:ln/>
        </p:spPr>
        <p:txBody>
          <a:bodyPr wrap="square" lIns="0" tIns="0" rIns="0" bIns="0" rtlCol="0" anchor="t"/>
          <a:lstStyle/>
          <a:p>
            <a:pPr indent="0" marL="0">
              <a:buNone/>
            </a:pPr>
            <a:r>
              <a:rPr lang="en-US" sz="1900" b="1" dirty="0">
                <a:solidFill>
                  <a:schemeClr val="tx2"/>
                </a:solidFill>
              </a:rPr>
              <a:t>Decisions at sowing time</a:t>
            </a:r>
            <a:endParaRPr lang="en-US" sz="1900" dirty="0"/>
          </a:p>
        </p:txBody>
      </p:sp>
      <p:sp>
        <p:nvSpPr>
          <p:cNvPr id="12" name="card 2 body"/>
          <p:cNvSpPr txBox="1"/>
          <p:nvPr/>
        </p:nvSpPr>
        <p:spPr>
          <a:xfrm>
            <a:off x="4572000" y="3200400"/>
            <a:ext cx="3017520" cy="1463040"/>
          </a:xfrm>
          <a:prstGeom prst="rect">
            <a:avLst/>
          </a:prstGeom>
          <a:noFill/>
          <a:ln/>
        </p:spPr>
        <p:txBody>
          <a:bodyPr wrap="square" lIns="0" tIns="0" rIns="0" bIns="0" rtlCol="0" anchor="t"/>
          <a:lstStyle/>
          <a:p>
            <a:pPr indent="0" marL="0">
              <a:buNone/>
            </a:pPr>
            <a:r>
              <a:rPr lang="en-US" sz="1500" dirty="0">
                <a:solidFill>
                  <a:schemeClr val="tx1"/>
                </a:solidFill>
              </a:rPr>
              <a:t>Fertilizer allocation, Paddy Marketing Board purchasing, storage and rice imports are all planned months before harvest.</a:t>
            </a:r>
            <a:endParaRPr lang="en-US" sz="1500" dirty="0"/>
          </a:p>
        </p:txBody>
      </p:sp>
      <p:sp>
        <p:nvSpPr>
          <p:cNvPr id="13" name="card 3"/>
          <p:cNvSpPr/>
          <p:nvPr/>
        </p:nvSpPr>
        <p:spPr>
          <a:xfrm>
            <a:off x="8046720" y="1463040"/>
            <a:ext cx="3474720" cy="2926080"/>
          </a:xfrm>
          <a:prstGeom prst="roundRect">
            <a:avLst>
              <a:gd name="adj" fmla="val 3750"/>
            </a:avLst>
          </a:prstGeom>
          <a:solidFill>
            <a:schemeClr val="bg2"/>
          </a:solidFill>
          <a:ln w="12700">
            <a:solidFill>
              <a:schemeClr val="bg2"/>
            </a:solidFill>
            <a:prstDash val="solid"/>
          </a:ln>
        </p:spPr>
      </p:sp>
      <p:sp>
        <p:nvSpPr>
          <p:cNvPr id="14" name="card 3 circle"/>
          <p:cNvSpPr/>
          <p:nvPr/>
        </p:nvSpPr>
        <p:spPr>
          <a:xfrm>
            <a:off x="8366760" y="1737360"/>
            <a:ext cx="822960" cy="822960"/>
          </a:xfrm>
          <a:prstGeom prst="ellipse">
            <a:avLst/>
          </a:prstGeom>
          <a:solidFill>
            <a:schemeClr val="accent1"/>
          </a:solidFill>
          <a:ln w="12700">
            <a:solidFill>
              <a:schemeClr val="accent1"/>
            </a:solidFill>
            <a:prstDash val="solid"/>
          </a:ln>
        </p:spPr>
      </p:sp>
      <p:pic>
        <p:nvPicPr>
          <p:cNvPr id="15" name="card 3 icon" descr="card 3">    </p:cNvPr>
          <p:cNvPicPr>
            <a:picLocks noChangeAspect="1"/>
          </p:cNvPicPr>
          <p:nvPr/>
        </p:nvPicPr>
        <p:blipFill>
          <a:blip r:embed="rId3"/>
          <a:stretch>
            <a:fillRect/>
          </a:stretch>
        </p:blipFill>
        <p:spPr>
          <a:xfrm>
            <a:off x="8564270" y="1934870"/>
            <a:ext cx="427939" cy="427939"/>
          </a:xfrm>
          <a:prstGeom prst="rect">
            <a:avLst/>
          </a:prstGeom>
        </p:spPr>
      </p:pic>
      <p:sp>
        <p:nvSpPr>
          <p:cNvPr id="16" name="card 3 heading"/>
          <p:cNvSpPr txBox="1"/>
          <p:nvPr/>
        </p:nvSpPr>
        <p:spPr>
          <a:xfrm>
            <a:off x="8321040" y="2697480"/>
            <a:ext cx="3017520" cy="457200"/>
          </a:xfrm>
          <a:prstGeom prst="rect">
            <a:avLst/>
          </a:prstGeom>
          <a:noFill/>
          <a:ln/>
        </p:spPr>
        <p:txBody>
          <a:bodyPr wrap="square" lIns="0" tIns="0" rIns="0" bIns="0" rtlCol="0" anchor="t"/>
          <a:lstStyle/>
          <a:p>
            <a:pPr indent="0" marL="0">
              <a:buNone/>
            </a:pPr>
            <a:r>
              <a:rPr lang="en-US" sz="1900" b="1" dirty="0">
                <a:solidFill>
                  <a:schemeClr val="tx2"/>
                </a:solidFill>
              </a:rPr>
              <a:t>2022 showed the risk</a:t>
            </a:r>
            <a:endParaRPr lang="en-US" sz="1900" dirty="0"/>
          </a:p>
        </p:txBody>
      </p:sp>
      <p:sp>
        <p:nvSpPr>
          <p:cNvPr id="17" name="card 3 body"/>
          <p:cNvSpPr txBox="1"/>
          <p:nvPr/>
        </p:nvSpPr>
        <p:spPr>
          <a:xfrm>
            <a:off x="8321040" y="3200400"/>
            <a:ext cx="3017520" cy="1463040"/>
          </a:xfrm>
          <a:prstGeom prst="rect">
            <a:avLst/>
          </a:prstGeom>
          <a:noFill/>
          <a:ln/>
        </p:spPr>
        <p:txBody>
          <a:bodyPr wrap="square" lIns="0" tIns="0" rIns="0" bIns="0" rtlCol="0" anchor="t"/>
          <a:lstStyle/>
          <a:p>
            <a:pPr indent="0" marL="0">
              <a:buNone/>
            </a:pPr>
            <a:r>
              <a:rPr lang="en-US" sz="1500" dirty="0">
                <a:solidFill>
                  <a:schemeClr val="tx1"/>
                </a:solidFill>
              </a:rPr>
              <a:t>The 2021/22 chemical fertilizer ban cut national yield by about a third. Early, explainable yield signals matter.</a:t>
            </a:r>
            <a:endParaRPr lang="en-US" sz="1500" dirty="0"/>
          </a:p>
        </p:txBody>
      </p:sp>
      <p:sp>
        <p:nvSpPr>
          <p:cNvPr id="18" name="goal box"/>
          <p:cNvSpPr/>
          <p:nvPr/>
        </p:nvSpPr>
        <p:spPr>
          <a:xfrm>
            <a:off x="548640" y="4754880"/>
            <a:ext cx="11064240" cy="1005840"/>
          </a:xfrm>
          <a:prstGeom prst="roundRect">
            <a:avLst>
              <a:gd name="adj" fmla="val 10909"/>
            </a:avLst>
          </a:prstGeom>
          <a:solidFill>
            <a:schemeClr val="tx2"/>
          </a:solidFill>
          <a:ln w="12700">
            <a:solidFill>
              <a:schemeClr val="tx2"/>
            </a:solidFill>
            <a:prstDash val="solid"/>
          </a:ln>
        </p:spPr>
      </p:sp>
      <p:sp>
        <p:nvSpPr>
          <p:cNvPr id="19" name="goal text"/>
          <p:cNvSpPr txBox="1"/>
          <p:nvPr/>
        </p:nvSpPr>
        <p:spPr>
          <a:xfrm>
            <a:off x="822960" y="4846320"/>
            <a:ext cx="10515600" cy="822960"/>
          </a:xfrm>
          <a:prstGeom prst="rect">
            <a:avLst/>
          </a:prstGeom>
          <a:noFill/>
          <a:ln/>
        </p:spPr>
        <p:txBody>
          <a:bodyPr wrap="square" lIns="0" tIns="0" rIns="0" bIns="0" rtlCol="0" anchor="ctr"/>
          <a:lstStyle/>
          <a:p>
            <a:pPr indent="0" marL="0">
              <a:buNone/>
            </a:pPr>
            <a:r>
              <a:rPr lang="en-US" sz="1700" b="1" dirty="0">
                <a:solidFill>
                  <a:schemeClr val="accent3"/>
                </a:solidFill>
              </a:rPr>
              <a:t>Goal: </a:t>
            </a:r>
            <a:pPr indent="0" marL="0">
              <a:buNone/>
            </a:pPr>
            <a:r>
              <a:rPr lang="en-US" sz="1700" dirty="0">
                <a:solidFill>
                  <a:schemeClr val="bg1"/>
                </a:solidFill>
              </a:rPr>
              <a:t>predict each district's average paddy yield (kg/ha) for the coming season, using only information available at sowing. This is a regression problem on tabular, local data.</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The DCS data needed real cleaning first</a:t>
            </a:r>
            <a:endParaRPr lang="en-US" sz="3200" dirty="0"/>
          </a:p>
        </p:txBody>
      </p:sp>
      <p:sp>
        <p:nvSpPr>
          <p:cNvPr id="3" name="stat 1"/>
          <p:cNvSpPr txBox="1"/>
          <p:nvPr/>
        </p:nvSpPr>
        <p:spPr>
          <a:xfrm>
            <a:off x="548640" y="1417320"/>
            <a:ext cx="402336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1979–2023</a:t>
            </a:r>
            <a:endParaRPr lang="en-US" sz="4000" dirty="0"/>
          </a:p>
        </p:txBody>
      </p:sp>
      <p:sp>
        <p:nvSpPr>
          <p:cNvPr id="4" name="stat 1 label"/>
          <p:cNvSpPr txBox="1"/>
          <p:nvPr/>
        </p:nvSpPr>
        <p:spPr>
          <a:xfrm>
            <a:off x="548640" y="2194560"/>
            <a:ext cx="4023360" cy="411480"/>
          </a:xfrm>
          <a:prstGeom prst="rect">
            <a:avLst/>
          </a:prstGeom>
          <a:noFill/>
          <a:ln/>
        </p:spPr>
        <p:txBody>
          <a:bodyPr wrap="square" lIns="0" tIns="0" rIns="0" bIns="0" rtlCol="0" anchor="t"/>
          <a:lstStyle/>
          <a:p>
            <a:pPr indent="0" marL="0">
              <a:buNone/>
            </a:pPr>
            <a:r>
              <a:rPr lang="en-US" sz="1500" dirty="0">
                <a:solidFill>
                  <a:schemeClr val="accent5"/>
                </a:solidFill>
              </a:rPr>
              <a:t>45 years, Maha &amp; Yala</a:t>
            </a:r>
            <a:endParaRPr lang="en-US" sz="1500" dirty="0"/>
          </a:p>
        </p:txBody>
      </p:sp>
      <p:sp>
        <p:nvSpPr>
          <p:cNvPr id="5" name="stat 2"/>
          <p:cNvSpPr txBox="1"/>
          <p:nvPr/>
        </p:nvSpPr>
        <p:spPr>
          <a:xfrm>
            <a:off x="548640" y="3017520"/>
            <a:ext cx="402336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2,612 → 2,174</a:t>
            </a:r>
            <a:endParaRPr lang="en-US" sz="4000" dirty="0"/>
          </a:p>
        </p:txBody>
      </p:sp>
      <p:sp>
        <p:nvSpPr>
          <p:cNvPr id="6" name="stat 2 label"/>
          <p:cNvSpPr txBox="1"/>
          <p:nvPr/>
        </p:nvSpPr>
        <p:spPr>
          <a:xfrm>
            <a:off x="548640" y="3794760"/>
            <a:ext cx="4023360" cy="411480"/>
          </a:xfrm>
          <a:prstGeom prst="rect">
            <a:avLst/>
          </a:prstGeom>
          <a:noFill/>
          <a:ln/>
        </p:spPr>
        <p:txBody>
          <a:bodyPr wrap="square" lIns="0" tIns="0" rIns="0" bIns="0" rtlCol="0" anchor="t"/>
          <a:lstStyle/>
          <a:p>
            <a:pPr indent="0" marL="0">
              <a:buNone/>
            </a:pPr>
            <a:r>
              <a:rPr lang="en-US" sz="1500" dirty="0">
                <a:solidFill>
                  <a:schemeClr val="accent5"/>
                </a:solidFill>
              </a:rPr>
              <a:t>raw rows → model rows</a:t>
            </a:r>
            <a:endParaRPr lang="en-US" sz="1500" dirty="0"/>
          </a:p>
        </p:txBody>
      </p:sp>
      <p:sp>
        <p:nvSpPr>
          <p:cNvPr id="7" name="stat 3"/>
          <p:cNvSpPr txBox="1"/>
          <p:nvPr/>
        </p:nvSpPr>
        <p:spPr>
          <a:xfrm>
            <a:off x="548640" y="4617720"/>
            <a:ext cx="402336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25</a:t>
            </a:r>
            <a:endParaRPr lang="en-US" sz="4000" dirty="0"/>
          </a:p>
        </p:txBody>
      </p:sp>
      <p:sp>
        <p:nvSpPr>
          <p:cNvPr id="8" name="stat 3 label"/>
          <p:cNvSpPr txBox="1"/>
          <p:nvPr/>
        </p:nvSpPr>
        <p:spPr>
          <a:xfrm>
            <a:off x="548640" y="5394960"/>
            <a:ext cx="4023360" cy="411480"/>
          </a:xfrm>
          <a:prstGeom prst="rect">
            <a:avLst/>
          </a:prstGeom>
          <a:noFill/>
          <a:ln/>
        </p:spPr>
        <p:txBody>
          <a:bodyPr wrap="square" lIns="0" tIns="0" rIns="0" bIns="0" rtlCol="0" anchor="t"/>
          <a:lstStyle/>
          <a:p>
            <a:pPr indent="0" marL="0">
              <a:buNone/>
            </a:pPr>
            <a:r>
              <a:rPr lang="en-US" sz="1500" dirty="0">
                <a:solidFill>
                  <a:schemeClr val="accent5"/>
                </a:solidFill>
              </a:rPr>
              <a:t>administrative districts</a:t>
            </a:r>
            <a:endParaRPr lang="en-US" sz="1500" dirty="0"/>
          </a:p>
        </p:txBody>
      </p:sp>
      <p:sp>
        <p:nvSpPr>
          <p:cNvPr id="9" name="fix 1 circle"/>
          <p:cNvSpPr/>
          <p:nvPr/>
        </p:nvSpPr>
        <p:spPr>
          <a:xfrm>
            <a:off x="5120640" y="1417320"/>
            <a:ext cx="685800" cy="685800"/>
          </a:xfrm>
          <a:prstGeom prst="ellipse">
            <a:avLst/>
          </a:prstGeom>
          <a:solidFill>
            <a:schemeClr val="accent2"/>
          </a:solidFill>
          <a:ln w="12700">
            <a:solidFill>
              <a:schemeClr val="accent2"/>
            </a:solidFill>
            <a:prstDash val="solid"/>
          </a:ln>
        </p:spPr>
      </p:sp>
      <p:pic>
        <p:nvPicPr>
          <p:cNvPr id="10" name="fix 1 icon" descr="fix 1">    </p:cNvPr>
          <p:cNvPicPr>
            <a:picLocks noChangeAspect="1"/>
          </p:cNvPicPr>
          <p:nvPr/>
        </p:nvPicPr>
        <p:blipFill>
          <a:blip r:embed="rId1"/>
          <a:stretch>
            <a:fillRect/>
          </a:stretch>
        </p:blipFill>
        <p:spPr>
          <a:xfrm>
            <a:off x="5285232" y="1581912"/>
            <a:ext cx="356616" cy="356616"/>
          </a:xfrm>
          <a:prstGeom prst="rect">
            <a:avLst/>
          </a:prstGeom>
        </p:spPr>
      </p:pic>
      <p:sp>
        <p:nvSpPr>
          <p:cNvPr id="11" name="fix 1 text"/>
          <p:cNvSpPr txBox="1"/>
          <p:nvPr/>
        </p:nvSpPr>
        <p:spPr>
          <a:xfrm>
            <a:off x="6035040" y="1371600"/>
            <a:ext cx="5577840" cy="1051560"/>
          </a:xfrm>
          <a:prstGeom prst="rect">
            <a:avLst/>
          </a:prstGeom>
          <a:noFill/>
          <a:ln/>
        </p:spPr>
        <p:txBody>
          <a:bodyPr wrap="square" lIns="0" tIns="0" rIns="0" bIns="0" rtlCol="0" anchor="t"/>
          <a:lstStyle/>
          <a:p>
            <a:pPr indent="0" marL="0">
              <a:buNone/>
            </a:pPr>
            <a:r>
              <a:rPr lang="en-US" sz="1500" b="1" dirty="0">
                <a:solidFill>
                  <a:schemeClr val="tx2"/>
                </a:solidFill>
              </a:rPr>
              <a:t>100 duplicate rows</a:t>
            </a:r>
            <a:endParaRPr lang="en-US" sz="1500" dirty="0"/>
          </a:p>
          <a:p>
            <a:pPr indent="0" marL="0">
              <a:buNone/>
            </a:pPr>
            <a:r>
              <a:rPr lang="en-US" sz="1500" dirty="0">
                <a:solidFill>
                  <a:schemeClr val="tx1"/>
                </a:solidFill>
              </a:rPr>
              <a:t>2010–2012 were entered twice, so they were removed</a:t>
            </a:r>
            <a:endParaRPr lang="en-US" sz="1500" dirty="0"/>
          </a:p>
        </p:txBody>
      </p:sp>
      <p:sp>
        <p:nvSpPr>
          <p:cNvPr id="12" name="fix 2 circle"/>
          <p:cNvSpPr/>
          <p:nvPr/>
        </p:nvSpPr>
        <p:spPr>
          <a:xfrm>
            <a:off x="5120640" y="2606040"/>
            <a:ext cx="685800" cy="685800"/>
          </a:xfrm>
          <a:prstGeom prst="ellipse">
            <a:avLst/>
          </a:prstGeom>
          <a:solidFill>
            <a:schemeClr val="accent2"/>
          </a:solidFill>
          <a:ln w="12700">
            <a:solidFill>
              <a:schemeClr val="accent2"/>
            </a:solidFill>
            <a:prstDash val="solid"/>
          </a:ln>
        </p:spPr>
      </p:sp>
      <p:pic>
        <p:nvPicPr>
          <p:cNvPr id="13" name="fix 2 icon" descr="fix 2">    </p:cNvPr>
          <p:cNvPicPr>
            <a:picLocks noChangeAspect="1"/>
          </p:cNvPicPr>
          <p:nvPr/>
        </p:nvPicPr>
        <p:blipFill>
          <a:blip r:embed="rId2"/>
          <a:stretch>
            <a:fillRect/>
          </a:stretch>
        </p:blipFill>
        <p:spPr>
          <a:xfrm>
            <a:off x="5285232" y="2770632"/>
            <a:ext cx="356616" cy="356616"/>
          </a:xfrm>
          <a:prstGeom prst="rect">
            <a:avLst/>
          </a:prstGeom>
        </p:spPr>
      </p:pic>
      <p:sp>
        <p:nvSpPr>
          <p:cNvPr id="14" name="fix 2 text"/>
          <p:cNvSpPr txBox="1"/>
          <p:nvPr/>
        </p:nvSpPr>
        <p:spPr>
          <a:xfrm>
            <a:off x="6035040" y="2560320"/>
            <a:ext cx="5577840" cy="1051560"/>
          </a:xfrm>
          <a:prstGeom prst="rect">
            <a:avLst/>
          </a:prstGeom>
          <a:noFill/>
          <a:ln/>
        </p:spPr>
        <p:txBody>
          <a:bodyPr wrap="square" lIns="0" tIns="0" rIns="0" bIns="0" rtlCol="0" anchor="t"/>
          <a:lstStyle/>
          <a:p>
            <a:pPr indent="0" marL="0">
              <a:buNone/>
            </a:pPr>
            <a:r>
              <a:rPr lang="en-US" sz="1500" b="1" dirty="0">
                <a:solidFill>
                  <a:schemeClr val="tx2"/>
                </a:solidFill>
              </a:rPr>
              <a:t>4 aggregate regions</a:t>
            </a:r>
            <a:endParaRPr lang="en-US" sz="1500" dirty="0"/>
          </a:p>
          <a:p>
            <a:pPr indent="0" marL="0">
              <a:buNone/>
            </a:pPr>
            <a:r>
              <a:rPr lang="en-US" sz="1500" dirty="0">
                <a:solidFill>
                  <a:schemeClr val="tx1"/>
                </a:solidFill>
              </a:rPr>
              <a:t>Mahaweli, Udawalawe, Highland and North &amp; East overlap real districts, so they were dropped</a:t>
            </a:r>
            <a:endParaRPr lang="en-US" sz="1500" dirty="0"/>
          </a:p>
        </p:txBody>
      </p:sp>
      <p:sp>
        <p:nvSpPr>
          <p:cNvPr id="15" name="fix 3 circle"/>
          <p:cNvSpPr/>
          <p:nvPr/>
        </p:nvSpPr>
        <p:spPr>
          <a:xfrm>
            <a:off x="5120640" y="3794760"/>
            <a:ext cx="685800" cy="685800"/>
          </a:xfrm>
          <a:prstGeom prst="ellipse">
            <a:avLst/>
          </a:prstGeom>
          <a:solidFill>
            <a:schemeClr val="accent2"/>
          </a:solidFill>
          <a:ln w="12700">
            <a:solidFill>
              <a:schemeClr val="accent2"/>
            </a:solidFill>
            <a:prstDash val="solid"/>
          </a:ln>
        </p:spPr>
      </p:sp>
      <p:pic>
        <p:nvPicPr>
          <p:cNvPr id="16" name="fix 3 icon" descr="fix 3">    </p:cNvPr>
          <p:cNvPicPr>
            <a:picLocks noChangeAspect="1"/>
          </p:cNvPicPr>
          <p:nvPr/>
        </p:nvPicPr>
        <p:blipFill>
          <a:blip r:embed="rId3"/>
          <a:stretch>
            <a:fillRect/>
          </a:stretch>
        </p:blipFill>
        <p:spPr>
          <a:xfrm>
            <a:off x="5285232" y="3959352"/>
            <a:ext cx="356616" cy="356616"/>
          </a:xfrm>
          <a:prstGeom prst="rect">
            <a:avLst/>
          </a:prstGeom>
        </p:spPr>
      </p:pic>
      <p:sp>
        <p:nvSpPr>
          <p:cNvPr id="17" name="fix 3 text"/>
          <p:cNvSpPr txBox="1"/>
          <p:nvPr/>
        </p:nvSpPr>
        <p:spPr>
          <a:xfrm>
            <a:off x="6035040" y="3749040"/>
            <a:ext cx="5577840" cy="1051560"/>
          </a:xfrm>
          <a:prstGeom prst="rect">
            <a:avLst/>
          </a:prstGeom>
          <a:noFill/>
          <a:ln/>
        </p:spPr>
        <p:txBody>
          <a:bodyPr wrap="square" lIns="0" tIns="0" rIns="0" bIns="0" rtlCol="0" anchor="t"/>
          <a:lstStyle/>
          <a:p>
            <a:pPr indent="0" marL="0">
              <a:buNone/>
            </a:pPr>
            <a:r>
              <a:rPr lang="en-US" sz="1500" b="1" dirty="0">
                <a:solidFill>
                  <a:schemeClr val="tx2"/>
                </a:solidFill>
              </a:rPr>
              <a:t>Unit error</a:t>
            </a:r>
            <a:endParaRPr lang="en-US" sz="1500" dirty="0"/>
          </a:p>
          <a:p>
            <a:pPr indent="0" marL="0">
              <a:buNone/>
            </a:pPr>
            <a:r>
              <a:rPr lang="en-US" sz="1500" dirty="0">
                <a:solidFill>
                  <a:schemeClr val="tx1"/>
                </a:solidFill>
              </a:rPr>
              <a:t>the yield column says “MT/Ha”, but its values are kg/ha (checked: production = harvest × yield)</a:t>
            </a:r>
            <a:endParaRPr lang="en-US" sz="1500" dirty="0"/>
          </a:p>
        </p:txBody>
      </p:sp>
      <p:sp>
        <p:nvSpPr>
          <p:cNvPr id="18" name="fix 4 circle"/>
          <p:cNvSpPr/>
          <p:nvPr/>
        </p:nvSpPr>
        <p:spPr>
          <a:xfrm>
            <a:off x="5120640" y="4983480"/>
            <a:ext cx="685800" cy="685800"/>
          </a:xfrm>
          <a:prstGeom prst="ellipse">
            <a:avLst/>
          </a:prstGeom>
          <a:solidFill>
            <a:schemeClr val="accent2"/>
          </a:solidFill>
          <a:ln w="12700">
            <a:solidFill>
              <a:schemeClr val="accent2"/>
            </a:solidFill>
            <a:prstDash val="solid"/>
          </a:ln>
        </p:spPr>
      </p:sp>
      <p:pic>
        <p:nvPicPr>
          <p:cNvPr id="19" name="fix 4 icon" descr="fix 4">    </p:cNvPr>
          <p:cNvPicPr>
            <a:picLocks noChangeAspect="1"/>
          </p:cNvPicPr>
          <p:nvPr/>
        </p:nvPicPr>
        <p:blipFill>
          <a:blip r:embed="rId4"/>
          <a:stretch>
            <a:fillRect/>
          </a:stretch>
        </p:blipFill>
        <p:spPr>
          <a:xfrm>
            <a:off x="5285232" y="5148072"/>
            <a:ext cx="356616" cy="356616"/>
          </a:xfrm>
          <a:prstGeom prst="rect">
            <a:avLst/>
          </a:prstGeom>
        </p:spPr>
      </p:pic>
      <p:sp>
        <p:nvSpPr>
          <p:cNvPr id="20" name="fix 4 text"/>
          <p:cNvSpPr txBox="1"/>
          <p:nvPr/>
        </p:nvSpPr>
        <p:spPr>
          <a:xfrm>
            <a:off x="6035040" y="4937760"/>
            <a:ext cx="5577840" cy="1051560"/>
          </a:xfrm>
          <a:prstGeom prst="rect">
            <a:avLst/>
          </a:prstGeom>
          <a:noFill/>
          <a:ln/>
        </p:spPr>
        <p:txBody>
          <a:bodyPr wrap="square" lIns="0" tIns="0" rIns="0" bIns="0" rtlCol="0" anchor="t"/>
          <a:lstStyle/>
          <a:p>
            <a:pPr indent="0" marL="0">
              <a:buNone/>
            </a:pPr>
            <a:r>
              <a:rPr lang="en-US" sz="1500" b="1" dirty="0">
                <a:solidFill>
                  <a:schemeClr val="tx2"/>
                </a:solidFill>
              </a:rPr>
              <a:t>Text numbers &amp; gaps</a:t>
            </a:r>
            <a:endParaRPr lang="en-US" sz="1500" dirty="0"/>
          </a:p>
          <a:p>
            <a:pPr indent="0" marL="0">
              <a:buNone/>
            </a:pPr>
            <a:r>
              <a:rPr lang="en-US" sz="1500" dirty="0">
                <a:solidFill>
                  <a:schemeClr val="tx1"/>
                </a:solidFill>
              </a:rPr>
              <a:t>commas and “-” were converted; war-year gaps in the North became missing values for imputation</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Yields doubled since 1980, then collapsed in 2022</a:t>
            </a:r>
            <a:endParaRPr lang="en-US" sz="3200" dirty="0"/>
          </a:p>
        </p:txBody>
      </p:sp>
      <p:pic>
        <p:nvPicPr>
          <p:cNvPr id="3" name="national yield trend chart" descr="national yield trend chart">    </p:cNvPr>
          <p:cNvPicPr>
            <a:picLocks noChangeAspect="1"/>
          </p:cNvPicPr>
          <p:nvPr/>
        </p:nvPicPr>
        <p:blipFill>
          <a:blip r:embed="rId1"/>
          <a:stretch>
            <a:fillRect/>
          </a:stretch>
        </p:blipFill>
        <p:spPr>
          <a:xfrm>
            <a:off x="457200" y="1592375"/>
            <a:ext cx="6766560" cy="2667411"/>
          </a:xfrm>
          <a:prstGeom prst="rect">
            <a:avLst/>
          </a:prstGeom>
        </p:spPr>
      </p:pic>
      <p:sp>
        <p:nvSpPr>
          <p:cNvPr id="4" name="feature panel"/>
          <p:cNvSpPr/>
          <p:nvPr/>
        </p:nvSpPr>
        <p:spPr>
          <a:xfrm>
            <a:off x="7498080" y="1280160"/>
            <a:ext cx="4114800" cy="4846320"/>
          </a:xfrm>
          <a:prstGeom prst="roundRect">
            <a:avLst>
              <a:gd name="adj" fmla="val 2667"/>
            </a:avLst>
          </a:prstGeom>
          <a:solidFill>
            <a:schemeClr val="bg2"/>
          </a:solidFill>
          <a:ln w="12700">
            <a:solidFill>
              <a:schemeClr val="bg2"/>
            </a:solidFill>
            <a:prstDash val="solid"/>
          </a:ln>
        </p:spPr>
      </p:sp>
      <p:sp>
        <p:nvSpPr>
          <p:cNvPr id="5" name="features heading"/>
          <p:cNvSpPr txBox="1"/>
          <p:nvPr/>
        </p:nvSpPr>
        <p:spPr>
          <a:xfrm>
            <a:off x="7726680" y="1417320"/>
            <a:ext cx="3657600" cy="457200"/>
          </a:xfrm>
          <a:prstGeom prst="rect">
            <a:avLst/>
          </a:prstGeom>
          <a:noFill/>
          <a:ln/>
        </p:spPr>
        <p:txBody>
          <a:bodyPr wrap="square" lIns="0" tIns="0" rIns="0" bIns="0" rtlCol="0" anchor="t"/>
          <a:lstStyle/>
          <a:p>
            <a:pPr indent="0" marL="0">
              <a:buNone/>
            </a:pPr>
            <a:r>
              <a:rPr lang="en-US" sz="1700" b="1" dirty="0">
                <a:solidFill>
                  <a:schemeClr val="tx2"/>
                </a:solidFill>
              </a:rPr>
              <a:t>Leakage-free features (known at sowing)</a:t>
            </a:r>
            <a:endParaRPr lang="en-US" sz="1700" dirty="0"/>
          </a:p>
        </p:txBody>
      </p:sp>
      <p:sp>
        <p:nvSpPr>
          <p:cNvPr id="6" name="features list"/>
          <p:cNvSpPr txBox="1"/>
          <p:nvPr/>
        </p:nvSpPr>
        <p:spPr>
          <a:xfrm>
            <a:off x="7726680" y="1920240"/>
            <a:ext cx="3703320"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District, season, year (trend)</a:t>
            </a:r>
            <a:endParaRPr lang="en-US" sz="1500" dirty="0"/>
          </a:p>
          <a:p>
            <a:pPr marL="342900" indent="-342900">
              <a:spcAft>
                <a:spcPts val="600"/>
              </a:spcAft>
              <a:buSzPct val="100000"/>
              <a:buChar char="•"/>
            </a:pPr>
            <a:r>
              <a:rPr lang="en-US" sz="1500" dirty="0">
                <a:solidFill>
                  <a:schemeClr val="tx1"/>
                </a:solidFill>
              </a:rPr>
              <a:t>Sown area and its major / minor / rain-fed shares</a:t>
            </a:r>
            <a:endParaRPr lang="en-US" sz="1500" dirty="0"/>
          </a:p>
          <a:p>
            <a:pPr marL="342900" indent="-342900">
              <a:spcAft>
                <a:spcPts val="600"/>
              </a:spcAft>
              <a:buSzPct val="100000"/>
              <a:buChar char="•"/>
            </a:pPr>
            <a:r>
              <a:rPr lang="en-US" sz="1500" dirty="0">
                <a:solidFill>
                  <a:schemeClr val="tx1"/>
                </a:solidFill>
              </a:rPr>
              <a:t>Change in sown area vs last year</a:t>
            </a:r>
            <a:endParaRPr lang="en-US" sz="1500" dirty="0"/>
          </a:p>
          <a:p>
            <a:pPr marL="342900" indent="-342900">
              <a:spcAft>
                <a:spcPts val="600"/>
              </a:spcAft>
              <a:buSzPct val="100000"/>
              <a:buChar char="•"/>
            </a:pPr>
            <a:r>
              <a:rPr lang="en-US" sz="1500" dirty="0">
                <a:solidFill>
                  <a:schemeClr val="tx1"/>
                </a:solidFill>
              </a:rPr>
              <a:t>Last season, same season last year and 4-season average yield</a:t>
            </a:r>
            <a:endParaRPr lang="en-US" sz="1500" dirty="0"/>
          </a:p>
          <a:p>
            <a:pPr marL="342900" indent="-342900">
              <a:spcAft>
                <a:spcPts val="600"/>
              </a:spcAft>
              <a:buSzPct val="100000"/>
              <a:buChar char="•"/>
            </a:pPr>
            <a:r>
              <a:rPr lang="en-US" sz="1500" dirty="0">
                <a:solidFill>
                  <a:schemeClr val="tx1"/>
                </a:solidFill>
              </a:rPr>
              <a:t>Last season's harvested ÷ sown</a:t>
            </a:r>
            <a:endParaRPr lang="en-US" sz="1500" dirty="0"/>
          </a:p>
        </p:txBody>
      </p:sp>
      <p:sp>
        <p:nvSpPr>
          <p:cNvPr id="7" name="excluded note"/>
          <p:cNvSpPr txBox="1"/>
          <p:nvPr/>
        </p:nvSpPr>
        <p:spPr>
          <a:xfrm>
            <a:off x="7726680" y="4846320"/>
            <a:ext cx="3703320" cy="1097280"/>
          </a:xfrm>
          <a:prstGeom prst="rect">
            <a:avLst/>
          </a:prstGeom>
          <a:noFill/>
          <a:ln/>
        </p:spPr>
        <p:txBody>
          <a:bodyPr wrap="square" lIns="0" tIns="0" rIns="0" bIns="0" rtlCol="0" anchor="t"/>
          <a:lstStyle/>
          <a:p>
            <a:pPr indent="0" marL="0">
              <a:buNone/>
            </a:pPr>
            <a:r>
              <a:rPr lang="en-US" sz="1500" b="1" dirty="0">
                <a:solidFill>
                  <a:schemeClr val="accent4"/>
                </a:solidFill>
              </a:rPr>
              <a:t>Excluded: </a:t>
            </a:r>
            <a:pPr indent="0" marL="0">
              <a:buNone/>
            </a:pPr>
            <a:r>
              <a:rPr lang="en-US" sz="1500" dirty="0">
                <a:solidFill>
                  <a:schemeClr val="tx1"/>
                </a:solidFill>
              </a:rPr>
              <a:t>this season's harvested area and production, because they would leak the answer.</a:t>
            </a:r>
            <a:endParaRPr lang="en-US" sz="1500" dirty="0"/>
          </a:p>
        </p:txBody>
      </p:sp>
      <p:sp>
        <p:nvSpPr>
          <p:cNvPr id="8" name="eda caption"/>
          <p:cNvSpPr txBox="1"/>
          <p:nvPr/>
        </p:nvSpPr>
        <p:spPr>
          <a:xfrm>
            <a:off x="548640" y="4846320"/>
            <a:ext cx="6675120" cy="731520"/>
          </a:xfrm>
          <a:prstGeom prst="rect">
            <a:avLst/>
          </a:prstGeom>
          <a:noFill/>
          <a:ln/>
        </p:spPr>
        <p:txBody>
          <a:bodyPr wrap="square" lIns="0" tIns="0" rIns="0" bIns="0" rtlCol="0" anchor="t"/>
          <a:lstStyle/>
          <a:p>
            <a:pPr indent="0" marL="0">
              <a:buNone/>
            </a:pPr>
            <a:r>
              <a:rPr lang="en-US" sz="1500" i="1" dirty="0">
                <a:solidFill>
                  <a:schemeClr val="accent5"/>
                </a:solidFill>
              </a:rPr>
              <a:t>Rain-fed share correlates −0.56 with yield; the 4-season average +0.79.</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Time-aware validation and self-designed hyperparameters</a:t>
            </a:r>
            <a:endParaRPr lang="en-US" sz="3200" dirty="0"/>
          </a:p>
        </p:txBody>
      </p:sp>
      <p:sp>
        <p:nvSpPr>
          <p:cNvPr id="3" name="step 1 circle"/>
          <p:cNvSpPr/>
          <p:nvPr/>
        </p:nvSpPr>
        <p:spPr>
          <a:xfrm>
            <a:off x="1051560" y="1463040"/>
            <a:ext cx="914400" cy="914400"/>
          </a:xfrm>
          <a:prstGeom prst="ellipse">
            <a:avLst/>
          </a:prstGeom>
          <a:solidFill>
            <a:schemeClr val="accent1"/>
          </a:solidFill>
          <a:ln w="12700">
            <a:solidFill>
              <a:schemeClr val="accent1"/>
            </a:solidFill>
            <a:prstDash val="solid"/>
          </a:ln>
        </p:spPr>
      </p:sp>
      <p:pic>
        <p:nvPicPr>
          <p:cNvPr id="4" name="step 1 icon" descr="step 1">    </p:cNvPr>
          <p:cNvPicPr>
            <a:picLocks noChangeAspect="1"/>
          </p:cNvPicPr>
          <p:nvPr/>
        </p:nvPicPr>
        <p:blipFill>
          <a:blip r:embed="rId1"/>
          <a:stretch>
            <a:fillRect/>
          </a:stretch>
        </p:blipFill>
        <p:spPr>
          <a:xfrm>
            <a:off x="1271016" y="1682496"/>
            <a:ext cx="475488" cy="475488"/>
          </a:xfrm>
          <a:prstGeom prst="rect">
            <a:avLst/>
          </a:prstGeom>
        </p:spPr>
      </p:pic>
      <p:sp>
        <p:nvSpPr>
          <p:cNvPr id="5" name="arrow 1"/>
          <p:cNvSpPr/>
          <p:nvPr/>
        </p:nvSpPr>
        <p:spPr>
          <a:xfrm>
            <a:off x="2103120" y="1920240"/>
            <a:ext cx="1143000" cy="0"/>
          </a:xfrm>
          <a:prstGeom prst="line">
            <a:avLst/>
          </a:prstGeom>
          <a:noFill/>
          <a:ln w="25400">
            <a:solidFill>
              <a:schemeClr val="accent2"/>
            </a:solidFill>
            <a:prstDash val="solid"/>
            <a:tailEnd type="triangle"/>
          </a:ln>
        </p:spPr>
      </p:sp>
      <p:sp>
        <p:nvSpPr>
          <p:cNvPr id="6" name="step 1 heading"/>
          <p:cNvSpPr txBox="1"/>
          <p:nvPr/>
        </p:nvSpPr>
        <p:spPr>
          <a:xfrm>
            <a:off x="548640" y="2514600"/>
            <a:ext cx="2011680" cy="411480"/>
          </a:xfrm>
          <a:prstGeom prst="rect">
            <a:avLst/>
          </a:prstGeom>
          <a:noFill/>
          <a:ln/>
        </p:spPr>
        <p:txBody>
          <a:bodyPr wrap="square" lIns="0" tIns="0" rIns="0" bIns="0" rtlCol="0" anchor="t"/>
          <a:lstStyle/>
          <a:p>
            <a:pPr algn="ctr" indent="0" marL="0">
              <a:buNone/>
            </a:pPr>
            <a:r>
              <a:rPr lang="en-US" sz="1700" b="1" dirty="0">
                <a:solidFill>
                  <a:schemeClr val="tx2"/>
                </a:solidFill>
              </a:rPr>
              <a:t>Split by time</a:t>
            </a:r>
            <a:endParaRPr lang="en-US" sz="1700" dirty="0"/>
          </a:p>
        </p:txBody>
      </p:sp>
      <p:sp>
        <p:nvSpPr>
          <p:cNvPr id="7" name="step 1 body"/>
          <p:cNvSpPr txBox="1"/>
          <p:nvPr/>
        </p:nvSpPr>
        <p:spPr>
          <a:xfrm>
            <a:off x="548640" y="2926080"/>
            <a:ext cx="2011680" cy="914400"/>
          </a:xfrm>
          <a:prstGeom prst="rect">
            <a:avLst/>
          </a:prstGeom>
          <a:noFill/>
          <a:ln/>
        </p:spPr>
        <p:txBody>
          <a:bodyPr wrap="square" lIns="0" tIns="0" rIns="0" bIns="0" rtlCol="0" anchor="t"/>
          <a:lstStyle/>
          <a:p>
            <a:pPr algn="ctr" indent="0" marL="0">
              <a:buNone/>
            </a:pPr>
            <a:r>
              <a:rPr lang="en-US" sz="1400" dirty="0">
                <a:solidFill>
                  <a:schemeClr val="tx1"/>
                </a:solidFill>
              </a:rPr>
              <a:t>Train 1979–2015, test 2016–2023; one held-out sample</a:t>
            </a:r>
            <a:endParaRPr lang="en-US" sz="1400" dirty="0"/>
          </a:p>
        </p:txBody>
      </p:sp>
      <p:sp>
        <p:nvSpPr>
          <p:cNvPr id="8" name="step 2 circle"/>
          <p:cNvSpPr/>
          <p:nvPr/>
        </p:nvSpPr>
        <p:spPr>
          <a:xfrm>
            <a:off x="3319272" y="1463040"/>
            <a:ext cx="914400" cy="914400"/>
          </a:xfrm>
          <a:prstGeom prst="ellipse">
            <a:avLst/>
          </a:prstGeom>
          <a:solidFill>
            <a:schemeClr val="accent1"/>
          </a:solidFill>
          <a:ln w="12700">
            <a:solidFill>
              <a:schemeClr val="accent1"/>
            </a:solidFill>
            <a:prstDash val="solid"/>
          </a:ln>
        </p:spPr>
      </p:sp>
      <p:pic>
        <p:nvPicPr>
          <p:cNvPr id="9" name="step 2 icon" descr="step 2">    </p:cNvPr>
          <p:cNvPicPr>
            <a:picLocks noChangeAspect="1"/>
          </p:cNvPicPr>
          <p:nvPr/>
        </p:nvPicPr>
        <p:blipFill>
          <a:blip r:embed="rId2"/>
          <a:stretch>
            <a:fillRect/>
          </a:stretch>
        </p:blipFill>
        <p:spPr>
          <a:xfrm>
            <a:off x="3538728" y="1682496"/>
            <a:ext cx="475488" cy="475488"/>
          </a:xfrm>
          <a:prstGeom prst="rect">
            <a:avLst/>
          </a:prstGeom>
        </p:spPr>
      </p:pic>
      <p:sp>
        <p:nvSpPr>
          <p:cNvPr id="10" name="arrow 2"/>
          <p:cNvSpPr/>
          <p:nvPr/>
        </p:nvSpPr>
        <p:spPr>
          <a:xfrm>
            <a:off x="4370832" y="1920240"/>
            <a:ext cx="1143000" cy="0"/>
          </a:xfrm>
          <a:prstGeom prst="line">
            <a:avLst/>
          </a:prstGeom>
          <a:noFill/>
          <a:ln w="25400">
            <a:solidFill>
              <a:schemeClr val="accent2"/>
            </a:solidFill>
            <a:prstDash val="solid"/>
            <a:tailEnd type="triangle"/>
          </a:ln>
        </p:spPr>
      </p:sp>
      <p:sp>
        <p:nvSpPr>
          <p:cNvPr id="11" name="step 2 heading"/>
          <p:cNvSpPr txBox="1"/>
          <p:nvPr/>
        </p:nvSpPr>
        <p:spPr>
          <a:xfrm>
            <a:off x="2816352" y="2514600"/>
            <a:ext cx="2011680" cy="411480"/>
          </a:xfrm>
          <a:prstGeom prst="rect">
            <a:avLst/>
          </a:prstGeom>
          <a:noFill/>
          <a:ln/>
        </p:spPr>
        <p:txBody>
          <a:bodyPr wrap="square" lIns="0" tIns="0" rIns="0" bIns="0" rtlCol="0" anchor="t"/>
          <a:lstStyle/>
          <a:p>
            <a:pPr algn="ctr" indent="0" marL="0">
              <a:buNone/>
            </a:pPr>
            <a:r>
              <a:rPr lang="en-US" sz="1700" b="1" dirty="0">
                <a:solidFill>
                  <a:schemeClr val="tx2"/>
                </a:solidFill>
              </a:rPr>
              <a:t>Baselines</a:t>
            </a:r>
            <a:endParaRPr lang="en-US" sz="1700" dirty="0"/>
          </a:p>
        </p:txBody>
      </p:sp>
      <p:sp>
        <p:nvSpPr>
          <p:cNvPr id="12" name="step 2 body"/>
          <p:cNvSpPr txBox="1"/>
          <p:nvPr/>
        </p:nvSpPr>
        <p:spPr>
          <a:xfrm>
            <a:off x="2816352" y="2926080"/>
            <a:ext cx="2011680" cy="914400"/>
          </a:xfrm>
          <a:prstGeom prst="rect">
            <a:avLst/>
          </a:prstGeom>
          <a:noFill/>
          <a:ln/>
        </p:spPr>
        <p:txBody>
          <a:bodyPr wrap="square" lIns="0" tIns="0" rIns="0" bIns="0" rtlCol="0" anchor="t"/>
          <a:lstStyle/>
          <a:p>
            <a:pPr algn="ctr" indent="0" marL="0">
              <a:buNone/>
            </a:pPr>
            <a:r>
              <a:rPr lang="en-US" sz="1400" dirty="0">
                <a:solidFill>
                  <a:schemeClr val="tx1"/>
                </a:solidFill>
              </a:rPr>
              <a:t>Persistence, moving average, linear regression</a:t>
            </a:r>
            <a:endParaRPr lang="en-US" sz="1400" dirty="0"/>
          </a:p>
        </p:txBody>
      </p:sp>
      <p:sp>
        <p:nvSpPr>
          <p:cNvPr id="13" name="step 3 circle"/>
          <p:cNvSpPr/>
          <p:nvPr/>
        </p:nvSpPr>
        <p:spPr>
          <a:xfrm>
            <a:off x="5586984" y="1463040"/>
            <a:ext cx="914400" cy="914400"/>
          </a:xfrm>
          <a:prstGeom prst="ellipse">
            <a:avLst/>
          </a:prstGeom>
          <a:solidFill>
            <a:schemeClr val="accent3"/>
          </a:solidFill>
          <a:ln w="12700">
            <a:solidFill>
              <a:schemeClr val="accent3"/>
            </a:solidFill>
            <a:prstDash val="solid"/>
          </a:ln>
        </p:spPr>
      </p:sp>
      <p:pic>
        <p:nvPicPr>
          <p:cNvPr id="14" name="step 3 icon" descr="step 3">    </p:cNvPr>
          <p:cNvPicPr>
            <a:picLocks noChangeAspect="1"/>
          </p:cNvPicPr>
          <p:nvPr/>
        </p:nvPicPr>
        <p:blipFill>
          <a:blip r:embed="rId3"/>
          <a:stretch>
            <a:fillRect/>
          </a:stretch>
        </p:blipFill>
        <p:spPr>
          <a:xfrm>
            <a:off x="5806440" y="1682496"/>
            <a:ext cx="475488" cy="475488"/>
          </a:xfrm>
          <a:prstGeom prst="rect">
            <a:avLst/>
          </a:prstGeom>
        </p:spPr>
      </p:pic>
      <p:sp>
        <p:nvSpPr>
          <p:cNvPr id="15" name="arrow 3"/>
          <p:cNvSpPr/>
          <p:nvPr/>
        </p:nvSpPr>
        <p:spPr>
          <a:xfrm>
            <a:off x="6638544" y="1920240"/>
            <a:ext cx="1143000" cy="0"/>
          </a:xfrm>
          <a:prstGeom prst="line">
            <a:avLst/>
          </a:prstGeom>
          <a:noFill/>
          <a:ln w="25400">
            <a:solidFill>
              <a:schemeClr val="accent2"/>
            </a:solidFill>
            <a:prstDash val="solid"/>
            <a:tailEnd type="triangle"/>
          </a:ln>
        </p:spPr>
      </p:sp>
      <p:sp>
        <p:nvSpPr>
          <p:cNvPr id="16" name="step 3 heading"/>
          <p:cNvSpPr txBox="1"/>
          <p:nvPr/>
        </p:nvSpPr>
        <p:spPr>
          <a:xfrm>
            <a:off x="5084064" y="2514600"/>
            <a:ext cx="2011680" cy="411480"/>
          </a:xfrm>
          <a:prstGeom prst="rect">
            <a:avLst/>
          </a:prstGeom>
          <a:noFill/>
          <a:ln/>
        </p:spPr>
        <p:txBody>
          <a:bodyPr wrap="square" lIns="0" tIns="0" rIns="0" bIns="0" rtlCol="0" anchor="t"/>
          <a:lstStyle/>
          <a:p>
            <a:pPr algn="ctr" indent="0" marL="0">
              <a:buNone/>
            </a:pPr>
            <a:r>
              <a:rPr lang="en-US" sz="1700" b="1" dirty="0">
                <a:solidFill>
                  <a:schemeClr val="tx2"/>
                </a:solidFill>
              </a:rPr>
              <a:t>Tune ensembles</a:t>
            </a:r>
            <a:endParaRPr lang="en-US" sz="1700" dirty="0"/>
          </a:p>
        </p:txBody>
      </p:sp>
      <p:sp>
        <p:nvSpPr>
          <p:cNvPr id="17" name="step 3 body"/>
          <p:cNvSpPr txBox="1"/>
          <p:nvPr/>
        </p:nvSpPr>
        <p:spPr>
          <a:xfrm>
            <a:off x="5084064" y="2926080"/>
            <a:ext cx="2011680" cy="914400"/>
          </a:xfrm>
          <a:prstGeom prst="rect">
            <a:avLst/>
          </a:prstGeom>
          <a:noFill/>
          <a:ln/>
        </p:spPr>
        <p:txBody>
          <a:bodyPr wrap="square" lIns="0" tIns="0" rIns="0" bIns="0" rtlCol="0" anchor="t"/>
          <a:lstStyle/>
          <a:p>
            <a:pPr algn="ctr" indent="0" marL="0">
              <a:buNone/>
            </a:pPr>
            <a:r>
              <a:rPr lang="en-US" sz="1400" dirty="0">
                <a:solidFill>
                  <a:schemeClr val="tx1"/>
                </a:solidFill>
              </a:rPr>
              <a:t>RF, XGBoost, LightGBM, CatBoost with TimeSeriesSplit CV</a:t>
            </a:r>
            <a:endParaRPr lang="en-US" sz="1400" dirty="0"/>
          </a:p>
        </p:txBody>
      </p:sp>
      <p:sp>
        <p:nvSpPr>
          <p:cNvPr id="18" name="step 4 circle"/>
          <p:cNvSpPr/>
          <p:nvPr/>
        </p:nvSpPr>
        <p:spPr>
          <a:xfrm>
            <a:off x="7854696" y="1463040"/>
            <a:ext cx="914400" cy="914400"/>
          </a:xfrm>
          <a:prstGeom prst="ellipse">
            <a:avLst/>
          </a:prstGeom>
          <a:solidFill>
            <a:schemeClr val="accent1"/>
          </a:solidFill>
          <a:ln w="12700">
            <a:solidFill>
              <a:schemeClr val="accent1"/>
            </a:solidFill>
            <a:prstDash val="solid"/>
          </a:ln>
        </p:spPr>
      </p:sp>
      <p:pic>
        <p:nvPicPr>
          <p:cNvPr id="19" name="step 4 icon" descr="step 4">    </p:cNvPr>
          <p:cNvPicPr>
            <a:picLocks noChangeAspect="1"/>
          </p:cNvPicPr>
          <p:nvPr/>
        </p:nvPicPr>
        <p:blipFill>
          <a:blip r:embed="rId4"/>
          <a:stretch>
            <a:fillRect/>
          </a:stretch>
        </p:blipFill>
        <p:spPr>
          <a:xfrm>
            <a:off x="8074152" y="1682496"/>
            <a:ext cx="475488" cy="475488"/>
          </a:xfrm>
          <a:prstGeom prst="rect">
            <a:avLst/>
          </a:prstGeom>
        </p:spPr>
      </p:pic>
      <p:sp>
        <p:nvSpPr>
          <p:cNvPr id="20" name="arrow 4"/>
          <p:cNvSpPr/>
          <p:nvPr/>
        </p:nvSpPr>
        <p:spPr>
          <a:xfrm>
            <a:off x="8906256" y="1920240"/>
            <a:ext cx="1143000" cy="0"/>
          </a:xfrm>
          <a:prstGeom prst="line">
            <a:avLst/>
          </a:prstGeom>
          <a:noFill/>
          <a:ln w="25400">
            <a:solidFill>
              <a:schemeClr val="accent2"/>
            </a:solidFill>
            <a:prstDash val="solid"/>
            <a:tailEnd type="triangle"/>
          </a:ln>
        </p:spPr>
      </p:sp>
      <p:sp>
        <p:nvSpPr>
          <p:cNvPr id="21" name="step 4 heading"/>
          <p:cNvSpPr txBox="1"/>
          <p:nvPr/>
        </p:nvSpPr>
        <p:spPr>
          <a:xfrm>
            <a:off x="7351776" y="2514600"/>
            <a:ext cx="2011680" cy="411480"/>
          </a:xfrm>
          <a:prstGeom prst="rect">
            <a:avLst/>
          </a:prstGeom>
          <a:noFill/>
          <a:ln/>
        </p:spPr>
        <p:txBody>
          <a:bodyPr wrap="square" lIns="0" tIns="0" rIns="0" bIns="0" rtlCol="0" anchor="t"/>
          <a:lstStyle/>
          <a:p>
            <a:pPr algn="ctr" indent="0" marL="0">
              <a:buNone/>
            </a:pPr>
            <a:r>
              <a:rPr lang="en-US" sz="1700" b="1" dirty="0">
                <a:solidFill>
                  <a:schemeClr val="tx2"/>
                </a:solidFill>
              </a:rPr>
              <a:t>Stack</a:t>
            </a:r>
            <a:endParaRPr lang="en-US" sz="1700" dirty="0"/>
          </a:p>
        </p:txBody>
      </p:sp>
      <p:sp>
        <p:nvSpPr>
          <p:cNvPr id="22" name="step 4 body"/>
          <p:cNvSpPr txBox="1"/>
          <p:nvPr/>
        </p:nvSpPr>
        <p:spPr>
          <a:xfrm>
            <a:off x="7351776" y="2926080"/>
            <a:ext cx="2011680" cy="914400"/>
          </a:xfrm>
          <a:prstGeom prst="rect">
            <a:avLst/>
          </a:prstGeom>
          <a:noFill/>
          <a:ln/>
        </p:spPr>
        <p:txBody>
          <a:bodyPr wrap="square" lIns="0" tIns="0" rIns="0" bIns="0" rtlCol="0" anchor="t"/>
          <a:lstStyle/>
          <a:p>
            <a:pPr algn="ctr" indent="0" marL="0">
              <a:buNone/>
            </a:pPr>
            <a:r>
              <a:rPr lang="en-US" sz="1400" dirty="0">
                <a:solidFill>
                  <a:schemeClr val="tx1"/>
                </a:solidFill>
              </a:rPr>
              <a:t>Four models combined by a Ridge meta-learner</a:t>
            </a:r>
            <a:endParaRPr lang="en-US" sz="1400" dirty="0"/>
          </a:p>
        </p:txBody>
      </p:sp>
      <p:sp>
        <p:nvSpPr>
          <p:cNvPr id="23" name="step 5 circle"/>
          <p:cNvSpPr/>
          <p:nvPr/>
        </p:nvSpPr>
        <p:spPr>
          <a:xfrm>
            <a:off x="10122408" y="1463040"/>
            <a:ext cx="914400" cy="914400"/>
          </a:xfrm>
          <a:prstGeom prst="ellipse">
            <a:avLst/>
          </a:prstGeom>
          <a:solidFill>
            <a:schemeClr val="accent1"/>
          </a:solidFill>
          <a:ln w="12700">
            <a:solidFill>
              <a:schemeClr val="accent1"/>
            </a:solidFill>
            <a:prstDash val="solid"/>
          </a:ln>
        </p:spPr>
      </p:sp>
      <p:pic>
        <p:nvPicPr>
          <p:cNvPr id="24" name="step 5 icon" descr="step 5">    </p:cNvPr>
          <p:cNvPicPr>
            <a:picLocks noChangeAspect="1"/>
          </p:cNvPicPr>
          <p:nvPr/>
        </p:nvPicPr>
        <p:blipFill>
          <a:blip r:embed="rId5"/>
          <a:stretch>
            <a:fillRect/>
          </a:stretch>
        </p:blipFill>
        <p:spPr>
          <a:xfrm>
            <a:off x="10341864" y="1682496"/>
            <a:ext cx="475488" cy="475488"/>
          </a:xfrm>
          <a:prstGeom prst="rect">
            <a:avLst/>
          </a:prstGeom>
        </p:spPr>
      </p:pic>
      <p:sp>
        <p:nvSpPr>
          <p:cNvPr id="25" name="step 5 heading"/>
          <p:cNvSpPr txBox="1"/>
          <p:nvPr/>
        </p:nvSpPr>
        <p:spPr>
          <a:xfrm>
            <a:off x="9619488" y="2514600"/>
            <a:ext cx="2011680" cy="411480"/>
          </a:xfrm>
          <a:prstGeom prst="rect">
            <a:avLst/>
          </a:prstGeom>
          <a:noFill/>
          <a:ln/>
        </p:spPr>
        <p:txBody>
          <a:bodyPr wrap="square" lIns="0" tIns="0" rIns="0" bIns="0" rtlCol="0" anchor="t"/>
          <a:lstStyle/>
          <a:p>
            <a:pPr algn="ctr" indent="0" marL="0">
              <a:buNone/>
            </a:pPr>
            <a:r>
              <a:rPr lang="en-US" sz="1700" b="1" dirty="0">
                <a:solidFill>
                  <a:schemeClr val="tx2"/>
                </a:solidFill>
              </a:rPr>
              <a:t>Explain</a:t>
            </a:r>
            <a:endParaRPr lang="en-US" sz="1700" dirty="0"/>
          </a:p>
        </p:txBody>
      </p:sp>
      <p:sp>
        <p:nvSpPr>
          <p:cNvPr id="26" name="step 5 body"/>
          <p:cNvSpPr txBox="1"/>
          <p:nvPr/>
        </p:nvSpPr>
        <p:spPr>
          <a:xfrm>
            <a:off x="9619488" y="2926080"/>
            <a:ext cx="2011680" cy="914400"/>
          </a:xfrm>
          <a:prstGeom prst="rect">
            <a:avLst/>
          </a:prstGeom>
          <a:noFill/>
          <a:ln/>
        </p:spPr>
        <p:txBody>
          <a:bodyPr wrap="square" lIns="0" tIns="0" rIns="0" bIns="0" rtlCol="0" anchor="t"/>
          <a:lstStyle/>
          <a:p>
            <a:pPr algn="ctr" indent="0" marL="0">
              <a:buNone/>
            </a:pPr>
            <a:r>
              <a:rPr lang="en-US" sz="1400" dirty="0">
                <a:solidFill>
                  <a:schemeClr val="tx1"/>
                </a:solidFill>
              </a:rPr>
              <a:t>SHAP global and local; LIME</a:t>
            </a:r>
            <a:endParaRPr lang="en-US" sz="1400" dirty="0"/>
          </a:p>
        </p:txBody>
      </p:sp>
      <p:graphicFrame>
        <p:nvGraphicFramePr>
          <p:cNvPr id="6" name="hyperparameter table"/>
          <p:cNvGraphicFramePr>
            <a:graphicFrameLocks noGrp="1"/>
          </p:cNvGraphicFramePr>
          <p:nvPr>
            <p:extLst>
              <p:ext uri="{D42A27DB-BD31-4B8C-83A1-F6EECF244321}">
                <p14:modId xmlns:p14="http://schemas.microsoft.com/office/powerpoint/2010/main" val="1579011935"/>
              </p:ext>
            </p:extLst>
          </p:nvPr>
        </p:nvGraphicFramePr>
        <p:xfrm>
          <a:off x="548640" y="4069080"/>
          <a:ext cx="11064240" cy="914400"/>
        </p:xfrm>
        <a:graphic>
          <a:graphicData uri="http://schemas.openxmlformats.org/drawingml/2006/table">
            <a:tbl>
              <a:tblPr/>
              <a:tblGrid>
                <a:gridCol w="2011680"/>
                <a:gridCol w="9052560"/>
              </a:tblGrid>
              <a:tr h="384048">
                <a:tc>
                  <a:txBody>
                    <a:bodyPr/>
                    <a:lstStyle/>
                    <a:p>
                      <a:pPr indent="0" marL="0">
                        <a:buNone/>
                      </a:pPr>
                      <a:r>
                        <a:rPr lang="en-US" sz="1400" b="1" dirty="0">
                          <a:solidFill>
                            <a:srgbClr val="FFFFFF"/>
                          </a:solidFill>
                        </a:rPr>
                        <a:t>Model</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D4F"/>
                    </a:solidFill>
                  </a:tcPr>
                </a:tc>
                <a:tc>
                  <a:txBody>
                    <a:bodyPr/>
                    <a:lstStyle/>
                    <a:p>
                      <a:pPr indent="0" marL="0">
                        <a:buNone/>
                      </a:pPr>
                      <a:r>
                        <a:rPr lang="en-US" sz="1400" b="1" dirty="0">
                          <a:solidFill>
                            <a:srgbClr val="FFFFFF"/>
                          </a:solidFill>
                        </a:rPr>
                        <a:t>Design choices (tuned, not defaults)</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D4F"/>
                    </a:solidFill>
                  </a:tcPr>
                </a:tc>
              </a:tr>
              <a:tr h="384048">
                <a:tc>
                  <a:txBody>
                    <a:bodyPr/>
                    <a:lstStyle/>
                    <a:p>
                      <a:pPr indent="0" marL="0">
                        <a:buNone/>
                      </a:pPr>
                      <a:r>
                        <a:rPr lang="en-US" sz="1400" dirty="0">
                          <a:solidFill>
                            <a:srgbClr val="1F2A1F"/>
                          </a:solidFill>
                        </a:rPr>
                        <a:t>LightGBM</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1F2A1F"/>
                          </a:solidFill>
                        </a:rPr>
                        <a:t>num_leaves 21, min_child_samples 34, learning_rate 0.010, 615 trees, λ = 7.2: small leaves for under 2k rows</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400" dirty="0">
                          <a:solidFill>
                            <a:srgbClr val="1F2A1F"/>
                          </a:solidFill>
                        </a:rPr>
                        <a:t>XGBoost</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1F2A1F"/>
                          </a:solidFill>
                        </a:rPr>
                        <a:t>max_depth 2, learning_rate 0.017, 1019 trees, subsample 0.83, L1 1.5 / L2 1.7</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400" dirty="0">
                          <a:solidFill>
                            <a:srgbClr val="1F2A1F"/>
                          </a:solidFill>
                        </a:rPr>
                        <a:t>Random Forest</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1F2A1F"/>
                          </a:solidFill>
                        </a:rPr>
                        <a:t>428 trees, min_samples_leaf 8, max_features 0.34 to decorrelate the lag features</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400" dirty="0">
                          <a:solidFill>
                            <a:srgbClr val="1F2A1F"/>
                          </a:solidFill>
                        </a:rPr>
                        <a:t>CatBoost</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1F2A1F"/>
                          </a:solidFill>
                        </a:rPr>
                        <a:t>depth 6, l2_leaf_reg 14.3, native categorical handling of district and season</a:t>
                      </a:r>
                      <a:endParaRPr lang="en-US" sz="14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Ensembles beat every existing approach</a:t>
            </a:r>
            <a:endParaRPr lang="en-US" sz="3200" dirty="0"/>
          </a:p>
        </p:txBody>
      </p:sp>
      <p:graphicFrame>
        <p:nvGraphicFramePr>
          <p:cNvPr id="3" name="test RMSE chart" descr=""/>
          <p:cNvGraphicFramePr/>
          <p:nvPr/>
        </p:nvGraphicFramePr>
        <p:xfrm>
          <a:off x="457200" y="123444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result stat 1"/>
          <p:cNvSpPr txBox="1"/>
          <p:nvPr/>
        </p:nvSpPr>
        <p:spPr>
          <a:xfrm>
            <a:off x="7863840" y="1371600"/>
            <a:ext cx="3749040" cy="77724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−17 %</a:t>
            </a:r>
            <a:endParaRPr lang="en-US" sz="4000" dirty="0"/>
          </a:p>
        </p:txBody>
      </p:sp>
      <p:sp>
        <p:nvSpPr>
          <p:cNvPr id="5" name="result stat 1 label"/>
          <p:cNvSpPr txBox="1"/>
          <p:nvPr/>
        </p:nvSpPr>
        <p:spPr>
          <a:xfrm>
            <a:off x="7863840" y="2103120"/>
            <a:ext cx="3749040" cy="548640"/>
          </a:xfrm>
          <a:prstGeom prst="rect">
            <a:avLst/>
          </a:prstGeom>
          <a:noFill/>
          <a:ln/>
        </p:spPr>
        <p:txBody>
          <a:bodyPr wrap="square" lIns="0" tIns="0" rIns="0" bIns="0" rtlCol="0" anchor="t"/>
          <a:lstStyle/>
          <a:p>
            <a:pPr indent="0" marL="0">
              <a:buNone/>
            </a:pPr>
            <a:r>
              <a:rPr lang="en-US" sz="1500" dirty="0">
                <a:solidFill>
                  <a:schemeClr val="accent5"/>
                </a:solidFill>
              </a:rPr>
              <a:t>CV error vs linear regression</a:t>
            </a:r>
            <a:endParaRPr lang="en-US" sz="1500" dirty="0"/>
          </a:p>
        </p:txBody>
      </p:sp>
      <p:sp>
        <p:nvSpPr>
          <p:cNvPr id="6" name="result stat 2"/>
          <p:cNvSpPr txBox="1"/>
          <p:nvPr/>
        </p:nvSpPr>
        <p:spPr>
          <a:xfrm>
            <a:off x="7863840" y="2834640"/>
            <a:ext cx="374904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−16 %</a:t>
            </a:r>
            <a:endParaRPr lang="en-US" sz="4000" dirty="0"/>
          </a:p>
        </p:txBody>
      </p:sp>
      <p:sp>
        <p:nvSpPr>
          <p:cNvPr id="7" name="result stat 2 label"/>
          <p:cNvSpPr txBox="1"/>
          <p:nvPr/>
        </p:nvSpPr>
        <p:spPr>
          <a:xfrm>
            <a:off x="7863840" y="3566160"/>
            <a:ext cx="3749040" cy="548640"/>
          </a:xfrm>
          <a:prstGeom prst="rect">
            <a:avLst/>
          </a:prstGeom>
          <a:noFill/>
          <a:ln/>
        </p:spPr>
        <p:txBody>
          <a:bodyPr wrap="square" lIns="0" tIns="0" rIns="0" bIns="0" rtlCol="0" anchor="t"/>
          <a:lstStyle/>
          <a:p>
            <a:pPr indent="0" marL="0">
              <a:buNone/>
            </a:pPr>
            <a:r>
              <a:rPr lang="en-US" sz="1500" dirty="0">
                <a:solidFill>
                  <a:schemeClr val="accent5"/>
                </a:solidFill>
              </a:rPr>
              <a:t>test error vs persistence (−22 % outside 2022)</a:t>
            </a:r>
            <a:endParaRPr lang="en-US" sz="1500" dirty="0"/>
          </a:p>
        </p:txBody>
      </p:sp>
      <p:sp>
        <p:nvSpPr>
          <p:cNvPr id="8" name="result stat 3"/>
          <p:cNvSpPr txBox="1"/>
          <p:nvPr/>
        </p:nvSpPr>
        <p:spPr>
          <a:xfrm>
            <a:off x="7863840" y="4297680"/>
            <a:ext cx="374904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60 %</a:t>
            </a:r>
            <a:endParaRPr lang="en-US" sz="4000" dirty="0"/>
          </a:p>
        </p:txBody>
      </p:sp>
      <p:sp>
        <p:nvSpPr>
          <p:cNvPr id="9" name="result stat 3 label"/>
          <p:cNvSpPr txBox="1"/>
          <p:nvPr/>
        </p:nvSpPr>
        <p:spPr>
          <a:xfrm>
            <a:off x="7863840" y="5029200"/>
            <a:ext cx="3749040" cy="548640"/>
          </a:xfrm>
          <a:prstGeom prst="rect">
            <a:avLst/>
          </a:prstGeom>
          <a:noFill/>
          <a:ln/>
        </p:spPr>
        <p:txBody>
          <a:bodyPr wrap="square" lIns="0" tIns="0" rIns="0" bIns="0" rtlCol="0" anchor="t"/>
          <a:lstStyle/>
          <a:p>
            <a:pPr indent="0" marL="0">
              <a:buNone/>
            </a:pPr>
            <a:r>
              <a:rPr lang="en-US" sz="1500" dirty="0">
                <a:solidFill>
                  <a:schemeClr val="accent5"/>
                </a:solidFill>
              </a:rPr>
              <a:t>of forecasts within ±10 %</a:t>
            </a:r>
            <a:endParaRPr lang="en-US" sz="1500" dirty="0"/>
          </a:p>
        </p:txBody>
      </p:sp>
      <p:sp>
        <p:nvSpPr>
          <p:cNvPr id="10" name="selection note"/>
          <p:cNvSpPr txBox="1"/>
          <p:nvPr/>
        </p:nvSpPr>
        <p:spPr>
          <a:xfrm>
            <a:off x="7863840" y="5623560"/>
            <a:ext cx="3749040" cy="640080"/>
          </a:xfrm>
          <a:prstGeom prst="rect">
            <a:avLst/>
          </a:prstGeom>
          <a:noFill/>
          <a:ln/>
        </p:spPr>
        <p:txBody>
          <a:bodyPr wrap="square" lIns="0" tIns="0" rIns="0" bIns="0" rtlCol="0" anchor="t"/>
          <a:lstStyle/>
          <a:p>
            <a:pPr indent="0" marL="0">
              <a:buNone/>
            </a:pPr>
            <a:r>
              <a:rPr lang="en-US" sz="1400" i="1" dirty="0">
                <a:solidFill>
                  <a:schemeClr val="tx2"/>
                </a:solidFill>
              </a:rPr>
              <a:t>LightGBM selected on CV RMSE (425). Stacking is the best on test but more complex.</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Where every model struggles: trends and shocks</a:t>
            </a:r>
            <a:endParaRPr lang="en-US" sz="3200" dirty="0"/>
          </a:p>
        </p:txBody>
      </p:sp>
      <p:pic>
        <p:nvPicPr>
          <p:cNvPr id="3" name="actual vs predicted charts" descr="actual vs predicted charts">    </p:cNvPr>
          <p:cNvPicPr>
            <a:picLocks noChangeAspect="1"/>
          </p:cNvPicPr>
          <p:nvPr/>
        </p:nvPicPr>
        <p:blipFill>
          <a:blip r:embed="rId1"/>
          <a:stretch>
            <a:fillRect/>
          </a:stretch>
        </p:blipFill>
        <p:spPr>
          <a:xfrm>
            <a:off x="457709" y="1234440"/>
            <a:ext cx="11246102" cy="3657600"/>
          </a:xfrm>
          <a:prstGeom prst="rect">
            <a:avLst/>
          </a:prstGeom>
        </p:spPr>
      </p:pic>
      <p:sp>
        <p:nvSpPr>
          <p:cNvPr id="4" name="limit 1 circle"/>
          <p:cNvSpPr/>
          <p:nvPr/>
        </p:nvSpPr>
        <p:spPr>
          <a:xfrm>
            <a:off x="548640" y="5120640"/>
            <a:ext cx="731520" cy="731520"/>
          </a:xfrm>
          <a:prstGeom prst="ellipse">
            <a:avLst/>
          </a:prstGeom>
          <a:solidFill>
            <a:schemeClr val="accent3"/>
          </a:solidFill>
          <a:ln w="12700">
            <a:solidFill>
              <a:schemeClr val="accent3"/>
            </a:solidFill>
            <a:prstDash val="solid"/>
          </a:ln>
        </p:spPr>
      </p:sp>
      <p:pic>
        <p:nvPicPr>
          <p:cNvPr id="5" name="limit 1 icon" descr="limit 1">    </p:cNvPr>
          <p:cNvPicPr>
            <a:picLocks noChangeAspect="1"/>
          </p:cNvPicPr>
          <p:nvPr/>
        </p:nvPicPr>
        <p:blipFill>
          <a:blip r:embed="rId2"/>
          <a:stretch>
            <a:fillRect/>
          </a:stretch>
        </p:blipFill>
        <p:spPr>
          <a:xfrm>
            <a:off x="724205" y="5296205"/>
            <a:ext cx="380390" cy="380390"/>
          </a:xfrm>
          <a:prstGeom prst="rect">
            <a:avLst/>
          </a:prstGeom>
        </p:spPr>
      </p:pic>
      <p:sp>
        <p:nvSpPr>
          <p:cNvPr id="6" name="limit 1 text"/>
          <p:cNvSpPr txBox="1"/>
          <p:nvPr/>
        </p:nvSpPr>
        <p:spPr>
          <a:xfrm>
            <a:off x="1463040" y="5029200"/>
            <a:ext cx="4526280" cy="1280160"/>
          </a:xfrm>
          <a:prstGeom prst="rect">
            <a:avLst/>
          </a:prstGeom>
          <a:noFill/>
          <a:ln/>
        </p:spPr>
        <p:txBody>
          <a:bodyPr wrap="square" lIns="0" tIns="0" rIns="0" bIns="0" rtlCol="0" anchor="t"/>
          <a:lstStyle/>
          <a:p>
            <a:pPr indent="0" marL="0">
              <a:buNone/>
            </a:pPr>
            <a:r>
              <a:rPr lang="en-US" sz="1400" b="1" dirty="0">
                <a:solidFill>
                  <a:schemeClr val="tx2"/>
                </a:solidFill>
              </a:rPr>
              <a:t>No extrapolation</a:t>
            </a:r>
            <a:endParaRPr lang="en-US" sz="1400" dirty="0"/>
          </a:p>
          <a:p>
            <a:pPr indent="0" marL="0">
              <a:buNone/>
            </a:pPr>
            <a:r>
              <a:rPr lang="en-US" sz="1400" dirty="0">
                <a:solidFill>
                  <a:schemeClr val="tx1"/>
                </a:solidFill>
              </a:rPr>
              <a:t>Trees can't exceed past yields, so the 2019–21 records are under-predicted. Linear regression catches up on test. The fix: retrain on recent data.</a:t>
            </a:r>
            <a:endParaRPr lang="en-US" sz="1400" dirty="0"/>
          </a:p>
        </p:txBody>
      </p:sp>
      <p:sp>
        <p:nvSpPr>
          <p:cNvPr id="7" name="limit 2 circle"/>
          <p:cNvSpPr/>
          <p:nvPr/>
        </p:nvSpPr>
        <p:spPr>
          <a:xfrm>
            <a:off x="6172200" y="5120640"/>
            <a:ext cx="731520" cy="731520"/>
          </a:xfrm>
          <a:prstGeom prst="ellipse">
            <a:avLst/>
          </a:prstGeom>
          <a:solidFill>
            <a:schemeClr val="accent4"/>
          </a:solidFill>
          <a:ln w="12700">
            <a:solidFill>
              <a:schemeClr val="accent4"/>
            </a:solidFill>
            <a:prstDash val="solid"/>
          </a:ln>
        </p:spPr>
      </p:sp>
      <p:pic>
        <p:nvPicPr>
          <p:cNvPr id="8" name="limit 2 icon" descr="limit 2">    </p:cNvPr>
          <p:cNvPicPr>
            <a:picLocks noChangeAspect="1"/>
          </p:cNvPicPr>
          <p:nvPr/>
        </p:nvPicPr>
        <p:blipFill>
          <a:blip r:embed="rId3"/>
          <a:stretch>
            <a:fillRect/>
          </a:stretch>
        </p:blipFill>
        <p:spPr>
          <a:xfrm>
            <a:off x="6347765" y="5296205"/>
            <a:ext cx="380390" cy="380390"/>
          </a:xfrm>
          <a:prstGeom prst="rect">
            <a:avLst/>
          </a:prstGeom>
        </p:spPr>
      </p:pic>
      <p:sp>
        <p:nvSpPr>
          <p:cNvPr id="9" name="limit 2 text"/>
          <p:cNvSpPr txBox="1"/>
          <p:nvPr/>
        </p:nvSpPr>
        <p:spPr>
          <a:xfrm>
            <a:off x="7086600" y="5029200"/>
            <a:ext cx="4526280" cy="1280160"/>
          </a:xfrm>
          <a:prstGeom prst="rect">
            <a:avLst/>
          </a:prstGeom>
          <a:noFill/>
          <a:ln/>
        </p:spPr>
        <p:txBody>
          <a:bodyPr wrap="square" lIns="0" tIns="0" rIns="0" bIns="0" rtlCol="0" anchor="t"/>
          <a:lstStyle/>
          <a:p>
            <a:pPr indent="0" marL="0">
              <a:buNone/>
            </a:pPr>
            <a:r>
              <a:rPr lang="en-US" sz="1400" b="1" dirty="0">
                <a:solidFill>
                  <a:schemeClr val="tx2"/>
                </a:solidFill>
              </a:rPr>
              <a:t>2022 fertilizer ban</a:t>
            </a:r>
            <a:endParaRPr lang="en-US" sz="1400" dirty="0"/>
          </a:p>
          <a:p>
            <a:pPr indent="0" marL="0">
              <a:buNone/>
            </a:pPr>
            <a:r>
              <a:rPr lang="en-US" sz="1400" dirty="0">
                <a:solidFill>
                  <a:schemeClr val="tx1"/>
                </a:solidFill>
              </a:rPr>
              <a:t>Red points: errors are 2.5–4 times larger and every model over-predicts. The shock is not in any sowing-time feature.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SHAP: the model reasons like an agronomist</a:t>
            </a:r>
            <a:endParaRPr lang="en-US" sz="3200" dirty="0"/>
          </a:p>
        </p:txBody>
      </p:sp>
      <p:pic>
        <p:nvPicPr>
          <p:cNvPr id="3" name="SHAP beeswarm plot" descr="SHAP beeswarm plot">    </p:cNvPr>
          <p:cNvPicPr>
            <a:picLocks noChangeAspect="1"/>
          </p:cNvPicPr>
          <p:nvPr/>
        </p:nvPicPr>
        <p:blipFill>
          <a:blip r:embed="rId1"/>
          <a:stretch>
            <a:fillRect/>
          </a:stretch>
        </p:blipFill>
        <p:spPr>
          <a:xfrm>
            <a:off x="457200" y="1714184"/>
            <a:ext cx="6400800" cy="4069713"/>
          </a:xfrm>
          <a:prstGeom prst="rect">
            <a:avLst/>
          </a:prstGeom>
        </p:spPr>
      </p:pic>
      <p:sp>
        <p:nvSpPr>
          <p:cNvPr id="4" name="insight 1 circle"/>
          <p:cNvSpPr/>
          <p:nvPr/>
        </p:nvSpPr>
        <p:spPr>
          <a:xfrm>
            <a:off x="7223760" y="1325880"/>
            <a:ext cx="685800" cy="685800"/>
          </a:xfrm>
          <a:prstGeom prst="ellipse">
            <a:avLst/>
          </a:prstGeom>
          <a:solidFill>
            <a:schemeClr val="accent1"/>
          </a:solidFill>
          <a:ln w="12700">
            <a:solidFill>
              <a:schemeClr val="accent1"/>
            </a:solidFill>
            <a:prstDash val="solid"/>
          </a:ln>
        </p:spPr>
      </p:sp>
      <p:pic>
        <p:nvPicPr>
          <p:cNvPr id="5" name="insight 1 icon" descr="insight 1">    </p:cNvPr>
          <p:cNvPicPr>
            <a:picLocks noChangeAspect="1"/>
          </p:cNvPicPr>
          <p:nvPr/>
        </p:nvPicPr>
        <p:blipFill>
          <a:blip r:embed="rId2"/>
          <a:stretch>
            <a:fillRect/>
          </a:stretch>
        </p:blipFill>
        <p:spPr>
          <a:xfrm>
            <a:off x="7388352" y="1490472"/>
            <a:ext cx="356616" cy="356616"/>
          </a:xfrm>
          <a:prstGeom prst="rect">
            <a:avLst/>
          </a:prstGeom>
        </p:spPr>
      </p:pic>
      <p:sp>
        <p:nvSpPr>
          <p:cNvPr id="6" name="insight 1 text"/>
          <p:cNvSpPr txBox="1"/>
          <p:nvPr/>
        </p:nvSpPr>
        <p:spPr>
          <a:xfrm>
            <a:off x="8092440" y="1280160"/>
            <a:ext cx="3566160" cy="1097280"/>
          </a:xfrm>
          <a:prstGeom prst="rect">
            <a:avLst/>
          </a:prstGeom>
          <a:noFill/>
          <a:ln/>
        </p:spPr>
        <p:txBody>
          <a:bodyPr wrap="square" lIns="0" tIns="0" rIns="0" bIns="0" rtlCol="0" anchor="t"/>
          <a:lstStyle/>
          <a:p>
            <a:pPr indent="0" marL="0">
              <a:buNone/>
            </a:pPr>
            <a:r>
              <a:rPr lang="en-US" sz="1400" b="1" dirty="0">
                <a:solidFill>
                  <a:schemeClr val="tx2"/>
                </a:solidFill>
              </a:rPr>
              <a:t>History drives it</a:t>
            </a:r>
            <a:endParaRPr lang="en-US" sz="1400" dirty="0"/>
          </a:p>
          <a:p>
            <a:pPr indent="0" marL="0">
              <a:buNone/>
            </a:pPr>
            <a:r>
              <a:rPr lang="en-US" sz="1400" dirty="0">
                <a:solidFill>
                  <a:schemeClr val="tx1"/>
                </a:solidFill>
              </a:rPr>
              <a:t>A high 4-season and last-year yield raises the forecast.</a:t>
            </a:r>
            <a:endParaRPr lang="en-US" sz="1400" dirty="0"/>
          </a:p>
        </p:txBody>
      </p:sp>
      <p:sp>
        <p:nvSpPr>
          <p:cNvPr id="7" name="insight 2 circle"/>
          <p:cNvSpPr/>
          <p:nvPr/>
        </p:nvSpPr>
        <p:spPr>
          <a:xfrm>
            <a:off x="7223760" y="2542032"/>
            <a:ext cx="685800" cy="685800"/>
          </a:xfrm>
          <a:prstGeom prst="ellipse">
            <a:avLst/>
          </a:prstGeom>
          <a:solidFill>
            <a:schemeClr val="accent1"/>
          </a:solidFill>
          <a:ln w="12700">
            <a:solidFill>
              <a:schemeClr val="accent1"/>
            </a:solidFill>
            <a:prstDash val="solid"/>
          </a:ln>
        </p:spPr>
      </p:sp>
      <p:pic>
        <p:nvPicPr>
          <p:cNvPr id="8" name="insight 2 icon" descr="insight 2">    </p:cNvPr>
          <p:cNvPicPr>
            <a:picLocks noChangeAspect="1"/>
          </p:cNvPicPr>
          <p:nvPr/>
        </p:nvPicPr>
        <p:blipFill>
          <a:blip r:embed="rId3"/>
          <a:stretch>
            <a:fillRect/>
          </a:stretch>
        </p:blipFill>
        <p:spPr>
          <a:xfrm>
            <a:off x="7388352" y="2706624"/>
            <a:ext cx="356616" cy="356616"/>
          </a:xfrm>
          <a:prstGeom prst="rect">
            <a:avLst/>
          </a:prstGeom>
        </p:spPr>
      </p:pic>
      <p:sp>
        <p:nvSpPr>
          <p:cNvPr id="9" name="insight 2 text"/>
          <p:cNvSpPr txBox="1"/>
          <p:nvPr/>
        </p:nvSpPr>
        <p:spPr>
          <a:xfrm>
            <a:off x="8092440" y="2496312"/>
            <a:ext cx="3566160" cy="1097280"/>
          </a:xfrm>
          <a:prstGeom prst="rect">
            <a:avLst/>
          </a:prstGeom>
          <a:noFill/>
          <a:ln/>
        </p:spPr>
        <p:txBody>
          <a:bodyPr wrap="square" lIns="0" tIns="0" rIns="0" bIns="0" rtlCol="0" anchor="t"/>
          <a:lstStyle/>
          <a:p>
            <a:pPr indent="0" marL="0">
              <a:buNone/>
            </a:pPr>
            <a:r>
              <a:rPr lang="en-US" sz="1400" b="1" dirty="0">
                <a:solidFill>
                  <a:schemeClr val="tx2"/>
                </a:solidFill>
              </a:rPr>
              <a:t>Irrigation matters</a:t>
            </a:r>
            <a:endParaRPr lang="en-US" sz="1400" dirty="0"/>
          </a:p>
          <a:p>
            <a:pPr indent="0" marL="0">
              <a:buNone/>
            </a:pPr>
            <a:r>
              <a:rPr lang="en-US" sz="1400" dirty="0">
                <a:solidFill>
                  <a:schemeClr val="tx1"/>
                </a:solidFill>
              </a:rPr>
              <a:t>Rain-fed share lowers the forecast; a major-scheme share raises it.</a:t>
            </a:r>
            <a:endParaRPr lang="en-US" sz="1400" dirty="0"/>
          </a:p>
        </p:txBody>
      </p:sp>
      <p:sp>
        <p:nvSpPr>
          <p:cNvPr id="10" name="insight 3 circle"/>
          <p:cNvSpPr/>
          <p:nvPr/>
        </p:nvSpPr>
        <p:spPr>
          <a:xfrm>
            <a:off x="7223760" y="3758184"/>
            <a:ext cx="685800" cy="685800"/>
          </a:xfrm>
          <a:prstGeom prst="ellipse">
            <a:avLst/>
          </a:prstGeom>
          <a:solidFill>
            <a:schemeClr val="accent1"/>
          </a:solidFill>
          <a:ln w="12700">
            <a:solidFill>
              <a:schemeClr val="accent1"/>
            </a:solidFill>
            <a:prstDash val="solid"/>
          </a:ln>
        </p:spPr>
      </p:sp>
      <p:pic>
        <p:nvPicPr>
          <p:cNvPr id="11" name="insight 3 icon" descr="insight 3">    </p:cNvPr>
          <p:cNvPicPr>
            <a:picLocks noChangeAspect="1"/>
          </p:cNvPicPr>
          <p:nvPr/>
        </p:nvPicPr>
        <p:blipFill>
          <a:blip r:embed="rId4"/>
          <a:stretch>
            <a:fillRect/>
          </a:stretch>
        </p:blipFill>
        <p:spPr>
          <a:xfrm>
            <a:off x="7388352" y="3922776"/>
            <a:ext cx="356616" cy="356616"/>
          </a:xfrm>
          <a:prstGeom prst="rect">
            <a:avLst/>
          </a:prstGeom>
        </p:spPr>
      </p:pic>
      <p:sp>
        <p:nvSpPr>
          <p:cNvPr id="12" name="insight 3 text"/>
          <p:cNvSpPr txBox="1"/>
          <p:nvPr/>
        </p:nvSpPr>
        <p:spPr>
          <a:xfrm>
            <a:off x="8092440" y="3712464"/>
            <a:ext cx="3566160" cy="1097280"/>
          </a:xfrm>
          <a:prstGeom prst="rect">
            <a:avLst/>
          </a:prstGeom>
          <a:noFill/>
          <a:ln/>
        </p:spPr>
        <p:txBody>
          <a:bodyPr wrap="square" lIns="0" tIns="0" rIns="0" bIns="0" rtlCol="0" anchor="t"/>
          <a:lstStyle/>
          <a:p>
            <a:pPr indent="0" marL="0">
              <a:buNone/>
            </a:pPr>
            <a:r>
              <a:rPr lang="en-US" sz="1400" b="1" dirty="0">
                <a:solidFill>
                  <a:schemeClr val="tx2"/>
                </a:solidFill>
              </a:rPr>
              <a:t>Long-term trend</a:t>
            </a:r>
            <a:endParaRPr lang="en-US" sz="1400" dirty="0"/>
          </a:p>
          <a:p>
            <a:pPr indent="0" marL="0">
              <a:buNone/>
            </a:pPr>
            <a:r>
              <a:rPr lang="en-US" sz="1400" dirty="0">
                <a:solidFill>
                  <a:schemeClr val="tx1"/>
                </a:solidFill>
              </a:rPr>
              <a:t>Year captures better varieties and inputs.</a:t>
            </a:r>
            <a:endParaRPr lang="en-US" sz="1400" dirty="0"/>
          </a:p>
        </p:txBody>
      </p:sp>
      <p:sp>
        <p:nvSpPr>
          <p:cNvPr id="13" name="insight 4 circle"/>
          <p:cNvSpPr/>
          <p:nvPr/>
        </p:nvSpPr>
        <p:spPr>
          <a:xfrm>
            <a:off x="7223760" y="4974336"/>
            <a:ext cx="685800" cy="685800"/>
          </a:xfrm>
          <a:prstGeom prst="ellipse">
            <a:avLst/>
          </a:prstGeom>
          <a:solidFill>
            <a:schemeClr val="accent1"/>
          </a:solidFill>
          <a:ln w="12700">
            <a:solidFill>
              <a:schemeClr val="accent1"/>
            </a:solidFill>
            <a:prstDash val="solid"/>
          </a:ln>
        </p:spPr>
      </p:sp>
      <p:pic>
        <p:nvPicPr>
          <p:cNvPr id="14" name="insight 4 icon" descr="insight 4">    </p:cNvPr>
          <p:cNvPicPr>
            <a:picLocks noChangeAspect="1"/>
          </p:cNvPicPr>
          <p:nvPr/>
        </p:nvPicPr>
        <p:blipFill>
          <a:blip r:embed="rId5"/>
          <a:stretch>
            <a:fillRect/>
          </a:stretch>
        </p:blipFill>
        <p:spPr>
          <a:xfrm>
            <a:off x="7388352" y="5138928"/>
            <a:ext cx="356616" cy="356616"/>
          </a:xfrm>
          <a:prstGeom prst="rect">
            <a:avLst/>
          </a:prstGeom>
        </p:spPr>
      </p:pic>
      <p:sp>
        <p:nvSpPr>
          <p:cNvPr id="15" name="insight 4 text"/>
          <p:cNvSpPr txBox="1"/>
          <p:nvPr/>
        </p:nvSpPr>
        <p:spPr>
          <a:xfrm>
            <a:off x="8092440" y="4928616"/>
            <a:ext cx="3566160" cy="1097280"/>
          </a:xfrm>
          <a:prstGeom prst="rect">
            <a:avLst/>
          </a:prstGeom>
          <a:noFill/>
          <a:ln/>
        </p:spPr>
        <p:txBody>
          <a:bodyPr wrap="square" lIns="0" tIns="0" rIns="0" bIns="0" rtlCol="0" anchor="t"/>
          <a:lstStyle/>
          <a:p>
            <a:pPr indent="0" marL="0">
              <a:buNone/>
            </a:pPr>
            <a:r>
              <a:rPr lang="en-US" sz="1400" b="1" dirty="0">
                <a:solidFill>
                  <a:schemeClr val="tx2"/>
                </a:solidFill>
              </a:rPr>
              <a:t>District adds ~0</a:t>
            </a:r>
            <a:endParaRPr lang="en-US" sz="1400" dirty="0"/>
          </a:p>
          <a:p>
            <a:pPr indent="0" marL="0">
              <a:buNone/>
            </a:pPr>
            <a:r>
              <a:rPr lang="en-US" sz="1400" dirty="0">
                <a:solidFill>
                  <a:schemeClr val="tx1"/>
                </a:solidFill>
              </a:rPr>
              <a:t>Location is already explained by history and irrigation, not memorised.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One unseen sample: Polonnaruwa, Yala 2023</a:t>
            </a:r>
            <a:endParaRPr lang="en-US" sz="3200" dirty="0"/>
          </a:p>
        </p:txBody>
      </p:sp>
      <p:pic>
        <p:nvPicPr>
          <p:cNvPr id="3" name="SHAP waterfall" descr="SHAP waterfall">    </p:cNvPr>
          <p:cNvPicPr>
            <a:picLocks noChangeAspect="1"/>
          </p:cNvPicPr>
          <p:nvPr/>
        </p:nvPicPr>
        <p:blipFill>
          <a:blip r:embed="rId1"/>
          <a:stretch>
            <a:fillRect/>
          </a:stretch>
        </p:blipFill>
        <p:spPr>
          <a:xfrm>
            <a:off x="365760" y="1291276"/>
            <a:ext cx="5120640" cy="4732648"/>
          </a:xfrm>
          <a:prstGeom prst="rect">
            <a:avLst/>
          </a:prstGeom>
        </p:spPr>
      </p:pic>
      <p:pic>
        <p:nvPicPr>
          <p:cNvPr id="4" name="LIME explanation" descr="LIME explanation">    </p:cNvPr>
          <p:cNvPicPr>
            <a:picLocks noChangeAspect="1"/>
          </p:cNvPicPr>
          <p:nvPr/>
        </p:nvPicPr>
        <p:blipFill>
          <a:blip r:embed="rId2"/>
          <a:stretch>
            <a:fillRect/>
          </a:stretch>
        </p:blipFill>
        <p:spPr>
          <a:xfrm>
            <a:off x="5577840" y="1336074"/>
            <a:ext cx="3657600" cy="1899851"/>
          </a:xfrm>
          <a:prstGeom prst="rect">
            <a:avLst/>
          </a:prstGeom>
        </p:spPr>
      </p:pic>
      <p:sp>
        <p:nvSpPr>
          <p:cNvPr id="5" name="sample stat 1"/>
          <p:cNvSpPr txBox="1"/>
          <p:nvPr/>
        </p:nvSpPr>
        <p:spPr>
          <a:xfrm>
            <a:off x="9509760" y="1280160"/>
            <a:ext cx="219456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4,225</a:t>
            </a:r>
            <a:endParaRPr lang="en-US" sz="3400" dirty="0"/>
          </a:p>
        </p:txBody>
      </p:sp>
      <p:sp>
        <p:nvSpPr>
          <p:cNvPr id="6" name="sample stat 1 label"/>
          <p:cNvSpPr txBox="1"/>
          <p:nvPr/>
        </p:nvSpPr>
        <p:spPr>
          <a:xfrm>
            <a:off x="9509760" y="187452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predicted kg/ha (from the .pkl)</a:t>
            </a:r>
            <a:endParaRPr lang="en-US" sz="1300" dirty="0"/>
          </a:p>
        </p:txBody>
      </p:sp>
      <p:sp>
        <p:nvSpPr>
          <p:cNvPr id="7" name="sample stat 2"/>
          <p:cNvSpPr txBox="1"/>
          <p:nvPr/>
        </p:nvSpPr>
        <p:spPr>
          <a:xfrm>
            <a:off x="9509760" y="2423160"/>
            <a:ext cx="2194560" cy="640080"/>
          </a:xfrm>
          <a:prstGeom prst="rect">
            <a:avLst/>
          </a:prstGeom>
          <a:noFill/>
          <a:ln/>
        </p:spPr>
        <p:txBody>
          <a:bodyPr wrap="square" lIns="0" tIns="0" rIns="0" bIns="0" rtlCol="0" anchor="t"/>
          <a:lstStyle/>
          <a:p>
            <a:pPr indent="0" marL="0">
              <a:buNone/>
            </a:pPr>
            <a:r>
              <a:rPr lang="en-US" sz="3400" b="1" dirty="0">
                <a:solidFill>
                  <a:schemeClr val="accent5"/>
                </a:solidFill>
                <a:latin typeface="Cambria" pitchFamily="34" charset="0"/>
                <a:ea typeface="Cambria" pitchFamily="34" charset="-122"/>
                <a:cs typeface="Cambria" pitchFamily="34" charset="-120"/>
              </a:rPr>
              <a:t>4,918</a:t>
            </a:r>
            <a:endParaRPr lang="en-US" sz="3400" dirty="0"/>
          </a:p>
        </p:txBody>
      </p:sp>
      <p:sp>
        <p:nvSpPr>
          <p:cNvPr id="8" name="sample stat 2 label"/>
          <p:cNvSpPr txBox="1"/>
          <p:nvPr/>
        </p:nvSpPr>
        <p:spPr>
          <a:xfrm>
            <a:off x="9509760" y="301752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actual kg/ha (−14 %)</a:t>
            </a:r>
            <a:endParaRPr lang="en-US" sz="1300" dirty="0"/>
          </a:p>
        </p:txBody>
      </p:sp>
      <p:sp>
        <p:nvSpPr>
          <p:cNvPr id="9" name="local insight panel"/>
          <p:cNvSpPr/>
          <p:nvPr/>
        </p:nvSpPr>
        <p:spPr>
          <a:xfrm>
            <a:off x="5669280" y="3703320"/>
            <a:ext cx="5943600" cy="2468880"/>
          </a:xfrm>
          <a:prstGeom prst="roundRect">
            <a:avLst>
              <a:gd name="adj" fmla="val 4444"/>
            </a:avLst>
          </a:prstGeom>
          <a:solidFill>
            <a:schemeClr val="bg2"/>
          </a:solidFill>
          <a:ln w="12700">
            <a:solidFill>
              <a:schemeClr val="bg2"/>
            </a:solidFill>
            <a:prstDash val="solid"/>
          </a:ln>
        </p:spPr>
      </p:sp>
      <p:sp>
        <p:nvSpPr>
          <p:cNvPr id="10" name="local insight text"/>
          <p:cNvSpPr txBox="1"/>
          <p:nvPr/>
        </p:nvSpPr>
        <p:spPr>
          <a:xfrm>
            <a:off x="5897880" y="3840480"/>
            <a:ext cx="5532120" cy="224028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Why the gap? </a:t>
            </a:r>
            <a:pPr indent="0" marL="0">
              <a:spcAft>
                <a:spcPts val="800"/>
              </a:spcAft>
              <a:buNone/>
            </a:pPr>
            <a:r>
              <a:rPr lang="en-US" sz="1500" dirty="0">
                <a:solidFill>
                  <a:schemeClr val="tx1"/>
                </a:solidFill>
              </a:rPr>
              <a:t>SHAP shows Year = 2023 pulling the forecast down: the model learned the 2022 collapse, but yields recovered in 2023.</a:t>
            </a:r>
            <a:endParaRPr lang="en-US" sz="1500" dirty="0"/>
          </a:p>
          <a:p>
            <a:pPr indent="0" marL="0">
              <a:spcAft>
                <a:spcPts val="800"/>
              </a:spcAft>
              <a:buNone/>
            </a:pPr>
            <a:r>
              <a:rPr lang="en-US" sz="1500" b="1" dirty="0">
                <a:solidFill>
                  <a:schemeClr val="tx2"/>
                </a:solidFill>
              </a:rPr>
              <a:t>SHAP vs LIME: </a:t>
            </a:r>
            <a:pPr indent="0" marL="0">
              <a:spcAft>
                <a:spcPts val="800"/>
              </a:spcAft>
              <a:buNone/>
            </a:pPr>
            <a:r>
              <a:rPr lang="en-US" sz="1500" dirty="0">
                <a:solidFill>
                  <a:schemeClr val="tx1"/>
                </a:solidFill>
              </a:rPr>
              <a:t>they agree on history and irrigation. LIME's coarse “Year &gt; 2006” bin hides the 2022 dip, so the two methods are a useful cross-check.</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2"/>
                </a:solidFill>
              </a:rPr>
              <a:t>A GenAI-built front end that explains each forecast</a:t>
            </a:r>
            <a:endParaRPr lang="en-US" sz="3200" dirty="0"/>
          </a:p>
        </p:txBody>
      </p:sp>
      <p:sp>
        <p:nvSpPr>
          <p:cNvPr id="3" name="screenshot frame"/>
          <p:cNvSpPr/>
          <p:nvPr/>
        </p:nvSpPr>
        <p:spPr>
          <a:xfrm>
            <a:off x="548640" y="1280160"/>
            <a:ext cx="6766560" cy="4709160"/>
          </a:xfrm>
          <a:prstGeom prst="rect">
            <a:avLst/>
          </a:prstGeom>
          <a:solidFill>
            <a:schemeClr val="bg1"/>
          </a:solidFill>
          <a:ln w="9525">
            <a:solidFill>
              <a:srgbClr val="CCCCCC"/>
            </a:solidFill>
            <a:prstDash val="solid"/>
          </a:ln>
        </p:spPr>
      </p:sp>
      <p:pic>
        <p:nvPicPr>
          <p:cNvPr id="4" name="Streamlit app screenshot" descr="Streamlit app screenshot">    </p:cNvPr>
          <p:cNvPicPr>
            <a:picLocks noChangeAspect="1"/>
          </p:cNvPicPr>
          <p:nvPr/>
        </p:nvPicPr>
        <p:blipFill>
          <a:blip r:embed="rId1"/>
          <a:stretch>
            <a:fillRect/>
          </a:stretch>
        </p:blipFill>
        <p:spPr>
          <a:xfrm>
            <a:off x="596900" y="1325880"/>
            <a:ext cx="6670040" cy="4617720"/>
          </a:xfrm>
          <a:prstGeom prst="rect">
            <a:avLst/>
          </a:prstGeom>
        </p:spPr>
      </p:pic>
      <p:sp>
        <p:nvSpPr>
          <p:cNvPr id="5" name="deploy 1 circle"/>
          <p:cNvSpPr/>
          <p:nvPr/>
        </p:nvSpPr>
        <p:spPr>
          <a:xfrm>
            <a:off x="7680960" y="1325880"/>
            <a:ext cx="685800" cy="685800"/>
          </a:xfrm>
          <a:prstGeom prst="ellipse">
            <a:avLst/>
          </a:prstGeom>
          <a:solidFill>
            <a:schemeClr val="accent1"/>
          </a:solidFill>
          <a:ln w="12700">
            <a:solidFill>
              <a:schemeClr val="accent1"/>
            </a:solidFill>
            <a:prstDash val="solid"/>
          </a:ln>
        </p:spPr>
      </p:sp>
      <p:pic>
        <p:nvPicPr>
          <p:cNvPr id="6" name="deploy 1 icon" descr="deploy 1">    </p:cNvPr>
          <p:cNvPicPr>
            <a:picLocks noChangeAspect="1"/>
          </p:cNvPicPr>
          <p:nvPr/>
        </p:nvPicPr>
        <p:blipFill>
          <a:blip r:embed="rId2"/>
          <a:stretch>
            <a:fillRect/>
          </a:stretch>
        </p:blipFill>
        <p:spPr>
          <a:xfrm>
            <a:off x="7845552" y="1490472"/>
            <a:ext cx="356616" cy="356616"/>
          </a:xfrm>
          <a:prstGeom prst="rect">
            <a:avLst/>
          </a:prstGeom>
        </p:spPr>
      </p:pic>
      <p:sp>
        <p:nvSpPr>
          <p:cNvPr id="7" name="deploy 1 text"/>
          <p:cNvSpPr txBox="1"/>
          <p:nvPr/>
        </p:nvSpPr>
        <p:spPr>
          <a:xfrm>
            <a:off x="8549640" y="1280160"/>
            <a:ext cx="3108960" cy="1508760"/>
          </a:xfrm>
          <a:prstGeom prst="rect">
            <a:avLst/>
          </a:prstGeom>
          <a:noFill/>
          <a:ln/>
        </p:spPr>
        <p:txBody>
          <a:bodyPr wrap="square" lIns="0" tIns="0" rIns="0" bIns="0" rtlCol="0" anchor="t"/>
          <a:lstStyle/>
          <a:p>
            <a:pPr indent="0" marL="0">
              <a:buNone/>
            </a:pPr>
            <a:r>
              <a:rPr lang="en-US" sz="1400" b="1" dirty="0">
                <a:solidFill>
                  <a:schemeClr val="tx2"/>
                </a:solidFill>
              </a:rPr>
              <a:t>Streamlit + pickle</a:t>
            </a:r>
            <a:endParaRPr lang="en-US" sz="1400" dirty="0"/>
          </a:p>
          <a:p>
            <a:pPr indent="0" marL="0">
              <a:buNone/>
            </a:pPr>
            <a:r>
              <a:rPr lang="en-US" sz="1400" dirty="0">
                <a:solidFill>
                  <a:schemeClr val="tx1"/>
                </a:solidFill>
              </a:rPr>
              <a:t>Loads paddy_yield_model.pkl, pre-fills district history and shows yield, error range and production</a:t>
            </a:r>
            <a:endParaRPr lang="en-US" sz="1400" dirty="0"/>
          </a:p>
        </p:txBody>
      </p:sp>
      <p:sp>
        <p:nvSpPr>
          <p:cNvPr id="8" name="deploy 2 circle"/>
          <p:cNvSpPr/>
          <p:nvPr/>
        </p:nvSpPr>
        <p:spPr>
          <a:xfrm>
            <a:off x="7680960" y="2926080"/>
            <a:ext cx="685800" cy="685800"/>
          </a:xfrm>
          <a:prstGeom prst="ellipse">
            <a:avLst/>
          </a:prstGeom>
          <a:solidFill>
            <a:schemeClr val="accent1"/>
          </a:solidFill>
          <a:ln w="12700">
            <a:solidFill>
              <a:schemeClr val="accent1"/>
            </a:solidFill>
            <a:prstDash val="solid"/>
          </a:ln>
        </p:spPr>
      </p:sp>
      <p:pic>
        <p:nvPicPr>
          <p:cNvPr id="9" name="deploy 2 icon" descr="deploy 2">    </p:cNvPr>
          <p:cNvPicPr>
            <a:picLocks noChangeAspect="1"/>
          </p:cNvPicPr>
          <p:nvPr/>
        </p:nvPicPr>
        <p:blipFill>
          <a:blip r:embed="rId3"/>
          <a:stretch>
            <a:fillRect/>
          </a:stretch>
        </p:blipFill>
        <p:spPr>
          <a:xfrm>
            <a:off x="7845552" y="3090672"/>
            <a:ext cx="356616" cy="356616"/>
          </a:xfrm>
          <a:prstGeom prst="rect">
            <a:avLst/>
          </a:prstGeom>
        </p:spPr>
      </p:pic>
      <p:sp>
        <p:nvSpPr>
          <p:cNvPr id="10" name="deploy 2 text"/>
          <p:cNvSpPr txBox="1"/>
          <p:nvPr/>
        </p:nvSpPr>
        <p:spPr>
          <a:xfrm>
            <a:off x="8549640" y="2880360"/>
            <a:ext cx="3108960" cy="1508760"/>
          </a:xfrm>
          <a:prstGeom prst="rect">
            <a:avLst/>
          </a:prstGeom>
          <a:noFill/>
          <a:ln/>
        </p:spPr>
        <p:txBody>
          <a:bodyPr wrap="square" lIns="0" tIns="0" rIns="0" bIns="0" rtlCol="0" anchor="t"/>
          <a:lstStyle/>
          <a:p>
            <a:pPr indent="0" marL="0">
              <a:buNone/>
            </a:pPr>
            <a:r>
              <a:rPr lang="en-US" sz="1400" b="1" dirty="0">
                <a:solidFill>
                  <a:schemeClr val="tx2"/>
                </a:solidFill>
              </a:rPr>
              <a:t>Explains itself</a:t>
            </a:r>
            <a:endParaRPr lang="en-US" sz="1400" dirty="0"/>
          </a:p>
          <a:p>
            <a:pPr indent="0" marL="0">
              <a:buNone/>
            </a:pPr>
            <a:r>
              <a:rPr lang="en-US" sz="1400" dirty="0">
                <a:solidFill>
                  <a:schemeClr val="tx1"/>
                </a:solidFill>
              </a:rPr>
              <a:t>A SHAP bar chart for every prediction</a:t>
            </a:r>
            <a:endParaRPr lang="en-US" sz="1400" dirty="0"/>
          </a:p>
        </p:txBody>
      </p:sp>
      <p:sp>
        <p:nvSpPr>
          <p:cNvPr id="11" name="deploy 3 circle"/>
          <p:cNvSpPr/>
          <p:nvPr/>
        </p:nvSpPr>
        <p:spPr>
          <a:xfrm>
            <a:off x="7680960" y="4526280"/>
            <a:ext cx="685800" cy="685800"/>
          </a:xfrm>
          <a:prstGeom prst="ellipse">
            <a:avLst/>
          </a:prstGeom>
          <a:solidFill>
            <a:schemeClr val="accent3"/>
          </a:solidFill>
          <a:ln w="12700">
            <a:solidFill>
              <a:schemeClr val="accent3"/>
            </a:solidFill>
            <a:prstDash val="solid"/>
          </a:ln>
        </p:spPr>
      </p:sp>
      <p:pic>
        <p:nvPicPr>
          <p:cNvPr id="12" name="deploy 3 icon" descr="deploy 3">    </p:cNvPr>
          <p:cNvPicPr>
            <a:picLocks noChangeAspect="1"/>
          </p:cNvPicPr>
          <p:nvPr/>
        </p:nvPicPr>
        <p:blipFill>
          <a:blip r:embed="rId4"/>
          <a:stretch>
            <a:fillRect/>
          </a:stretch>
        </p:blipFill>
        <p:spPr>
          <a:xfrm>
            <a:off x="7845552" y="4690872"/>
            <a:ext cx="356616" cy="356616"/>
          </a:xfrm>
          <a:prstGeom prst="rect">
            <a:avLst/>
          </a:prstGeom>
        </p:spPr>
      </p:pic>
      <p:sp>
        <p:nvSpPr>
          <p:cNvPr id="13" name="deploy 3 text"/>
          <p:cNvSpPr txBox="1"/>
          <p:nvPr/>
        </p:nvSpPr>
        <p:spPr>
          <a:xfrm>
            <a:off x="8549640" y="4480560"/>
            <a:ext cx="3108960" cy="1508760"/>
          </a:xfrm>
          <a:prstGeom prst="rect">
            <a:avLst/>
          </a:prstGeom>
          <a:noFill/>
          <a:ln/>
        </p:spPr>
        <p:txBody>
          <a:bodyPr wrap="square" lIns="0" tIns="0" rIns="0" bIns="0" rtlCol="0" anchor="t"/>
          <a:lstStyle/>
          <a:p>
            <a:pPr indent="0" marL="0">
              <a:buNone/>
            </a:pPr>
            <a:r>
              <a:rPr lang="en-US" sz="1400" b="1" dirty="0">
                <a:solidFill>
                  <a:schemeClr val="tx2"/>
                </a:solidFill>
              </a:rPr>
              <a:t>Bonus: MLOps</a:t>
            </a:r>
            <a:endParaRPr lang="en-US" sz="1400" dirty="0"/>
          </a:p>
          <a:p>
            <a:pPr indent="0" marL="0">
              <a:buNone/>
            </a:pPr>
            <a:r>
              <a:rPr lang="en-US" sz="1400" dirty="0">
                <a:solidFill>
                  <a:schemeClr val="tx1"/>
                </a:solidFill>
              </a:rPr>
              <a:t>Dockerfile, plus GitHub Actions CI that tests the pickle and builds the image. Ready for Streamlit Cloud or Azure Container Apps</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rtlCol="0" anchor="b"/>
          <a:lstStyle/>
          <a:p>
            <a:pPr algn="l" indent="0" marL="0">
              <a:buNone/>
            </a:pPr>
            <a:r>
              <a:rPr lang="en-US" sz="4400" b="1" dirty="0">
                <a:solidFill>
                  <a:schemeClr val="bg1"/>
                </a:solidFill>
              </a:rPr>
              <a:t>Explainable yield forecasts from local data</a:t>
            </a:r>
            <a:endParaRPr lang="en-US" sz="4400" dirty="0"/>
          </a:p>
        </p:txBody>
      </p:sp>
      <p:sp>
        <p:nvSpPr>
          <p:cNvPr id="3" name="Text 0"/>
          <p:cNvSpPr/>
          <p:nvPr>
            <p:ph idx="101" type="body" hasCustomPrompt="1"/>
          </p:nvPr>
        </p:nvSpPr>
        <p:spPr>
          <a:xfrm>
            <a:off x="731520" y="3840480"/>
            <a:ext cx="10698480" cy="1371600"/>
          </a:xfrm>
          <a:prstGeom prst="rect">
            <a:avLst/>
          </a:prstGeom>
          <a:noFill/>
          <a:ln/>
        </p:spPr>
        <p:txBody>
          <a:bodyPr wrap="square" rtlCol="0" anchor="t"/>
          <a:lstStyle/>
          <a:p>
            <a:pPr algn="l" marL="342900" indent="-342900">
              <a:spcAft>
                <a:spcPts val="800"/>
              </a:spcAft>
              <a:buSzPct val="100000"/>
              <a:buChar char="•"/>
            </a:pPr>
            <a:r>
              <a:rPr lang="en-US" sz="2000" dirty="0">
                <a:solidFill>
                  <a:schemeClr val="accent6"/>
                </a:solidFill>
              </a:rPr>
              <a:t>LightGBM: 16–22 % lower error than the persistence baseline, with reasoning that matches agronomy</a:t>
            </a:r>
            <a:endParaRPr lang="en-US" sz="2000" dirty="0"/>
          </a:p>
          <a:p>
            <a:pPr algn="l" marL="342900" indent="-342900">
              <a:spcAft>
                <a:spcPts val="800"/>
              </a:spcAft>
              <a:buSzPct val="100000"/>
              <a:buChar char="•"/>
            </a:pPr>
            <a:r>
              <a:rPr lang="en-US" sz="2000" dirty="0">
                <a:solidFill>
                  <a:schemeClr val="accent6"/>
                </a:solidFill>
              </a:rPr>
              <a:t>Next: add rainfall, tank storage and fertilizer data; monitor drift and retrain every season</a:t>
            </a:r>
            <a:endParaRPr lang="en-US" sz="2000" dirty="0"/>
          </a:p>
        </p:txBody>
      </p:sp>
    </p:spTree>
  </p:cSld>
  <p:clrMapOvr>
    <a:masterClrMapping/>
  </p:clrMapOvr>
</p:sld>
</file>

<file path=ppt/theme/theme1.xml><?xml version="1.0" encoding="utf-8"?>
<a:theme xmlns:a="http://schemas.openxmlformats.org/drawingml/2006/main" name="Paddy Field">
  <a:themeElements>
    <a:clrScheme name="Paddy Field">
      <a:dk1>
        <a:srgbClr val="1F2A1F"/>
      </a:dk1>
      <a:lt1>
        <a:srgbClr val="FFFFFF"/>
      </a:lt1>
      <a:dk2>
        <a:srgbClr val="1E4D2B"/>
      </a:dk2>
      <a:lt2>
        <a:srgbClr val="EEF4EA"/>
      </a:lt2>
      <a:accent1>
        <a:srgbClr val="2E7D4F"/>
      </a:accent1>
      <a:accent2>
        <a:srgbClr val="97BC62"/>
      </a:accent2>
      <a:accent3>
        <a:srgbClr val="D4A017"/>
      </a:accent3>
      <a:accent4>
        <a:srgbClr val="C0392B"/>
      </a:accent4>
      <a:accent5>
        <a:srgbClr val="6B7B6B"/>
      </a:accent5>
      <a:accent6>
        <a:srgbClr val="B8D8A8"/>
      </a:accent6>
      <a:hlink>
        <a:srgbClr val="2E7D4F"/>
      </a:hlink>
      <a:folHlink>
        <a:srgbClr val="1E4D2B"/>
      </a:folHlink>
    </a:clrScheme>
    <a:fontScheme name="Paddy F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District-Level Paddy Yield in Sri Lanka</dc:title>
  <dc:subject>PptxGenJS Presentation</dc:subject>
  <dc:creator>PptxGenJS</dc:creator>
  <cp:lastModifiedBy>PptxGenJS</cp:lastModifiedBy>
  <cp:revision>1</cp:revision>
  <dcterms:created xsi:type="dcterms:W3CDTF">2026-10-22T14:29:48Z</dcterms:created>
  <dcterms:modified xsi:type="dcterms:W3CDTF">2026-10-22T14:29:48Z</dcterms:modified>
</cp:coreProperties>
</file>